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notesMasterIdLst>
    <p:notesMasterId r:id="rId31"/>
  </p:notesMasterIdLst>
  <p:sldIdLst>
    <p:sldId id="256" r:id="rId2"/>
    <p:sldId id="288" r:id="rId3"/>
    <p:sldId id="289" r:id="rId4"/>
    <p:sldId id="280" r:id="rId5"/>
    <p:sldId id="257" r:id="rId6"/>
    <p:sldId id="268" r:id="rId7"/>
    <p:sldId id="267" r:id="rId8"/>
    <p:sldId id="258" r:id="rId9"/>
    <p:sldId id="270" r:id="rId10"/>
    <p:sldId id="282" r:id="rId11"/>
    <p:sldId id="260" r:id="rId12"/>
    <p:sldId id="276" r:id="rId13"/>
    <p:sldId id="273" r:id="rId14"/>
    <p:sldId id="279" r:id="rId15"/>
    <p:sldId id="274" r:id="rId16"/>
    <p:sldId id="264" r:id="rId17"/>
    <p:sldId id="271" r:id="rId18"/>
    <p:sldId id="278" r:id="rId19"/>
    <p:sldId id="283" r:id="rId20"/>
    <p:sldId id="261" r:id="rId21"/>
    <p:sldId id="269" r:id="rId22"/>
    <p:sldId id="265" r:id="rId23"/>
    <p:sldId id="277" r:id="rId24"/>
    <p:sldId id="262" r:id="rId25"/>
    <p:sldId id="286" r:id="rId26"/>
    <p:sldId id="272" r:id="rId27"/>
    <p:sldId id="275" r:id="rId28"/>
    <p:sldId id="263" r:id="rId29"/>
    <p:sldId id="29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EC689-D1A9-4BF7-BF5D-1A5AA2374A3F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C8663-A8A2-4A66-BEEA-0AB204962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14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97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6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43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8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7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4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8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3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7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3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92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ured pencils inside a pencil holder which is on top of a wood table">
            <a:extLst>
              <a:ext uri="{FF2B5EF4-FFF2-40B4-BE49-F238E27FC236}">
                <a16:creationId xmlns:a16="http://schemas.microsoft.com/office/drawing/2014/main" id="{8A5503A3-649A-1A04-AABB-1FDBACD53A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48" r="-1" b="-1"/>
          <a:stretch>
            <a:fillRect/>
          </a:stretch>
        </p:blipFill>
        <p:spPr>
          <a:xfrm>
            <a:off x="16" y="10"/>
            <a:ext cx="755688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9ED41B5-F9B0-4DE1-8C59-A980468A7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51C0D-DC32-0EC1-9591-C5AC63139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6885" y="640080"/>
            <a:ext cx="3659246" cy="292608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mental-health trends among employees</a:t>
            </a:r>
            <a:br>
              <a:rPr lang="en-GB" sz="4400">
                <a:solidFill>
                  <a:srgbClr val="FFFFFF"/>
                </a:solidFill>
              </a:rPr>
            </a:br>
            <a:r>
              <a:rPr lang="en-GB" sz="440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E9BD3-CE42-EA5A-B7A1-B8AFA8117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6885" y="3578085"/>
            <a:ext cx="3659246" cy="1554480"/>
          </a:xfrm>
        </p:spPr>
        <p:txBody>
          <a:bodyPr>
            <a:normAutofit/>
          </a:bodyPr>
          <a:lstStyle/>
          <a:p>
            <a:r>
              <a:rPr lang="en-GB" sz="1500">
                <a:solidFill>
                  <a:srgbClr val="FFFFFF"/>
                </a:solidFill>
              </a:rPr>
              <a:t>By:Karim deheya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82A030-873A-4216-B6A6-C3348B9CA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70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riting an appointment on a paper agenda">
            <a:extLst>
              <a:ext uri="{FF2B5EF4-FFF2-40B4-BE49-F238E27FC236}">
                <a16:creationId xmlns:a16="http://schemas.microsoft.com/office/drawing/2014/main" id="{F5A7A278-7177-F11C-BC65-B0C19BEB05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-1" y="10"/>
            <a:ext cx="12191980" cy="685799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549E29-E797-4A00-B030-3AB01640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E99BE90-3CB7-B523-DCDD-47E08DD49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89" y="-28"/>
            <a:ext cx="10058400" cy="8689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spc="-5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BA85-96B5-DE3D-4526-77557EA61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3531" y="1032100"/>
            <a:ext cx="10821487" cy="5139043"/>
          </a:xfrm>
        </p:spPr>
        <p:txBody>
          <a:bodyPr vert="horz" lIns="0" tIns="45720" rIns="0" bIns="45720" numCol="2" rtlCol="0">
            <a:normAutofit/>
          </a:bodyPr>
          <a:lstStyle/>
          <a:p>
            <a:r>
              <a:rPr lang="en-US" sz="2600" b="1" dirty="0">
                <a:solidFill>
                  <a:schemeClr val="tx1"/>
                </a:solidFill>
                <a:latin typeface="+mn-lt"/>
              </a:rPr>
              <a:t>1-Customer Demographics</a:t>
            </a:r>
          </a:p>
          <a:p>
            <a:endParaRPr lang="en-US" sz="2600" b="1" dirty="0">
              <a:solidFill>
                <a:schemeClr val="tx1"/>
              </a:solidFill>
              <a:latin typeface="+mn-lt"/>
            </a:endParaRPr>
          </a:p>
          <a:p>
            <a:endParaRPr lang="en-US" sz="2600" b="1" dirty="0">
              <a:solidFill>
                <a:schemeClr val="tx1"/>
              </a:solidFill>
              <a:latin typeface="+mn-lt"/>
            </a:endParaRPr>
          </a:p>
          <a:p>
            <a:endParaRPr lang="en-US" sz="2600" b="1" dirty="0">
              <a:solidFill>
                <a:schemeClr val="tx1"/>
              </a:solidFill>
              <a:latin typeface="+mn-lt"/>
            </a:endParaRPr>
          </a:p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2-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Workplace &amp; Behavioral Patterns</a:t>
            </a:r>
          </a:p>
          <a:p>
            <a:endParaRPr lang="en-US" sz="2800" dirty="0">
              <a:solidFill>
                <a:schemeClr val="tx1"/>
              </a:solidFill>
              <a:latin typeface="+mn-lt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+mn-lt"/>
              </a:rPr>
              <a:t>3- Mental-Health Outcomes &amp; Treatment Patterns</a:t>
            </a:r>
          </a:p>
          <a:p>
            <a:pPr marL="171450" indent="-171450">
              <a:buFont typeface="Calibri" panose="020F050202020403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+mn-lt"/>
            </a:endParaRPr>
          </a:p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4- 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Geographical Insights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09E9FA-BDDE-45C4-8F5E-974D4208D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37E529-E43B-4948-B3C4-7F6B806FC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481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4EBB4-A7E6-726B-468B-1F7FC59F0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3EF03-15BE-65A6-38CE-E3AE9F29E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8376" y="211015"/>
            <a:ext cx="6877303" cy="6461089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This presentation provides a comprehensive analysis of mental-health trends among employees across different demographics, workplace environments, and geographical regions. Using survey-based data, it explores how factors such as gender, age, company size, industry type, and access to mental-health benefits influence both mental-health outcomes and treatment-seeking behavior.</a:t>
            </a:r>
          </a:p>
          <a:p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826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orld map formed by people united">
            <a:extLst>
              <a:ext uri="{FF2B5EF4-FFF2-40B4-BE49-F238E27FC236}">
                <a16:creationId xmlns:a16="http://schemas.microsoft.com/office/drawing/2014/main" id="{9CDE02CA-D884-F53D-7530-4E6D99DCA5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6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31B3E4-0DD5-65F0-C1AD-97B71E2C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Customer Demographics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29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B664-6283-3AD2-6F5F-5B37B1AA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590" y="309912"/>
            <a:ext cx="10058400" cy="794945"/>
          </a:xfrm>
        </p:spPr>
        <p:txBody>
          <a:bodyPr>
            <a:normAutofit/>
          </a:bodyPr>
          <a:lstStyle/>
          <a:p>
            <a:r>
              <a:rPr lang="en-GB" sz="2800" i="1" dirty="0"/>
              <a:t>What is the overall gender distribution of survey respondents?</a:t>
            </a:r>
          </a:p>
        </p:txBody>
      </p:sp>
      <p:pic>
        <p:nvPicPr>
          <p:cNvPr id="55" name="Content Placeholder 54" descr="A blue circle with a pink triangle and green triangle with text&#10;&#10;AI-generated content may be incorrect.">
            <a:extLst>
              <a:ext uri="{FF2B5EF4-FFF2-40B4-BE49-F238E27FC236}">
                <a16:creationId xmlns:a16="http://schemas.microsoft.com/office/drawing/2014/main" id="{1F71026F-5FF4-DD81-4238-7B57F28C9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891" y="2047230"/>
            <a:ext cx="5338759" cy="4022725"/>
          </a:xfr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9F4EBDF-01F0-071E-B4DA-DFE8E21B8C72}"/>
              </a:ext>
            </a:extLst>
          </p:cNvPr>
          <p:cNvSpPr txBox="1"/>
          <p:nvPr/>
        </p:nvSpPr>
        <p:spPr>
          <a:xfrm>
            <a:off x="698090" y="3529781"/>
            <a:ext cx="4235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Most respondents are male, confirming the gender imbalance in the technology industry.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894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593C8DDE-286B-6D12-8F58-EBEAC56DE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6394"/>
            <a:ext cx="12192000" cy="4605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F75A85-EA4E-B430-E578-CAAD623CE406}"/>
              </a:ext>
            </a:extLst>
          </p:cNvPr>
          <p:cNvSpPr txBox="1"/>
          <p:nvPr/>
        </p:nvSpPr>
        <p:spPr>
          <a:xfrm>
            <a:off x="1160206" y="226142"/>
            <a:ext cx="828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What is the Treatment Counts by Gender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7730EC-ED1B-C430-F201-72439AB503E4}"/>
              </a:ext>
            </a:extLst>
          </p:cNvPr>
          <p:cNvSpPr txBox="1"/>
          <p:nvPr/>
        </p:nvSpPr>
        <p:spPr>
          <a:xfrm>
            <a:off x="1622322" y="5731605"/>
            <a:ext cx="91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Women are more proactive in seeking help, while men may under-report or avoid treatment.</a:t>
            </a:r>
          </a:p>
        </p:txBody>
      </p:sp>
    </p:spTree>
    <p:extLst>
      <p:ext uri="{BB962C8B-B14F-4D97-AF65-F5344CB8AC3E}">
        <p14:creationId xmlns:p14="http://schemas.microsoft.com/office/powerpoint/2010/main" val="57343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4EE60AAE-70C5-E9DA-6839-C3D4F61AD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361" y="552048"/>
            <a:ext cx="9507277" cy="57539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C09899-2538-4E98-4061-9EB7AAFBBB5F}"/>
              </a:ext>
            </a:extLst>
          </p:cNvPr>
          <p:cNvSpPr txBox="1"/>
          <p:nvPr/>
        </p:nvSpPr>
        <p:spPr>
          <a:xfrm>
            <a:off x="806245" y="182716"/>
            <a:ext cx="1125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What is the overall age distribution for each gender group?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8DA8CB-F9AD-B578-75B9-ED893A0E14A6}"/>
              </a:ext>
            </a:extLst>
          </p:cNvPr>
          <p:cNvSpPr txBox="1"/>
          <p:nvPr/>
        </p:nvSpPr>
        <p:spPr>
          <a:xfrm>
            <a:off x="8721213" y="3008671"/>
            <a:ext cx="3087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Most respondents are in their 20s and 30s, and male participants dominate all age groups.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50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person's health&#10;&#10;AI-generated content may be incorrect.">
            <a:extLst>
              <a:ext uri="{FF2B5EF4-FFF2-40B4-BE49-F238E27FC236}">
                <a16:creationId xmlns:a16="http://schemas.microsoft.com/office/drawing/2014/main" id="{2A333BE5-762E-B6B3-99B4-52BB80563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881" y="494890"/>
            <a:ext cx="9450119" cy="5868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3633A3-9733-AB59-4244-771D54EF7585}"/>
              </a:ext>
            </a:extLst>
          </p:cNvPr>
          <p:cNvSpPr txBox="1"/>
          <p:nvPr/>
        </p:nvSpPr>
        <p:spPr>
          <a:xfrm>
            <a:off x="108154" y="353961"/>
            <a:ext cx="1172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How do reported mental-health consequences differ between male, female, and other respondents?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99BCC-4760-F3F3-562E-2653694C4916}"/>
              </a:ext>
            </a:extLst>
          </p:cNvPr>
          <p:cNvSpPr txBox="1"/>
          <p:nvPr/>
        </p:nvSpPr>
        <p:spPr>
          <a:xfrm>
            <a:off x="77998" y="2295013"/>
            <a:ext cx="2694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Female and “other” gender respondents report mental-health consequences slightly more often than males.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067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9FD5E02-2471-5200-B120-9A08BAB52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19" y="361195"/>
            <a:ext cx="10297962" cy="5410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AAE50E-1158-3A12-2046-2F0BA4AE6AC1}"/>
              </a:ext>
            </a:extLst>
          </p:cNvPr>
          <p:cNvSpPr txBox="1"/>
          <p:nvPr/>
        </p:nvSpPr>
        <p:spPr>
          <a:xfrm>
            <a:off x="501444" y="157316"/>
            <a:ext cx="12005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Within each gender group, what proportion of respondents report a family history of mental illness?</a:t>
            </a:r>
            <a:endParaRPr lang="en-GB" dirty="0"/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8F642-941A-6B6B-AEED-814249B37F11}"/>
              </a:ext>
            </a:extLst>
          </p:cNvPr>
          <p:cNvSpPr txBox="1"/>
          <p:nvPr/>
        </p:nvSpPr>
        <p:spPr>
          <a:xfrm>
            <a:off x="803122" y="5592688"/>
            <a:ext cx="104418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Males show the highest count of reported family history of mental illness.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is primarily driven by their larger representation in the dataset, not necessarily a higher proportion.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Females show lower counts, consistent with their smaller sample size.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701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0AA6468-80AC-4DDF-9CFB-C7A9507E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0AADAD-C765-169B-8A25-31EFE5AD0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Workplace &amp; Behavioral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FD6CF-1F41-CEC1-8B8D-57496306F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578087"/>
            <a:ext cx="3659246" cy="155448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500">
              <a:solidFill>
                <a:srgbClr val="FFFFFF"/>
              </a:solidFill>
            </a:endParaRPr>
          </a:p>
        </p:txBody>
      </p:sp>
      <p:pic>
        <p:nvPicPr>
          <p:cNvPr id="24" name="Picture 23" descr="Different science and technology icons on a green background">
            <a:extLst>
              <a:ext uri="{FF2B5EF4-FFF2-40B4-BE49-F238E27FC236}">
                <a16:creationId xmlns:a16="http://schemas.microsoft.com/office/drawing/2014/main" id="{8938C075-E3BA-726B-919F-7510EFCF6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89" r="3418"/>
          <a:stretch>
            <a:fillRect/>
          </a:stretch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4AB900CC-5074-4746-A1A4-AF640455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087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green squares&#10;&#10;AI-generated content may be incorrect.">
            <a:extLst>
              <a:ext uri="{FF2B5EF4-FFF2-40B4-BE49-F238E27FC236}">
                <a16:creationId xmlns:a16="http://schemas.microsoft.com/office/drawing/2014/main" id="{43D95BD2-CE7D-698A-043B-DA516AD0B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6445"/>
            <a:ext cx="12192000" cy="4505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93C6A0-A4AF-74EF-E782-3328C525E8C2}"/>
              </a:ext>
            </a:extLst>
          </p:cNvPr>
          <p:cNvSpPr txBox="1"/>
          <p:nvPr/>
        </p:nvSpPr>
        <p:spPr>
          <a:xfrm>
            <a:off x="245806" y="69105"/>
            <a:ext cx="120346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Are remote workers more or less likely to report mental-health consequences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7A1B69-39FA-8318-120E-0721350FC2C1}"/>
              </a:ext>
            </a:extLst>
          </p:cNvPr>
          <p:cNvSpPr txBox="1"/>
          <p:nvPr/>
        </p:nvSpPr>
        <p:spPr>
          <a:xfrm>
            <a:off x="1204451" y="5491661"/>
            <a:ext cx="1029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Approximately 38.5% of remote workers report mental-health consequences</a:t>
            </a:r>
            <a:r>
              <a:rPr lang="en-GB" b="1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332053-8A5B-3AF6-95E1-0B75D4D7D644}"/>
              </a:ext>
            </a:extLst>
          </p:cNvPr>
          <p:cNvSpPr/>
          <p:nvPr/>
        </p:nvSpPr>
        <p:spPr>
          <a:xfrm>
            <a:off x="10255046" y="2235279"/>
            <a:ext cx="137652" cy="98323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80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squares&#10;&#10;AI-generated content may be incorrect.">
            <a:extLst>
              <a:ext uri="{FF2B5EF4-FFF2-40B4-BE49-F238E27FC236}">
                <a16:creationId xmlns:a16="http://schemas.microsoft.com/office/drawing/2014/main" id="{73DA2014-A0C8-67B6-097A-405D97268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17" y="167148"/>
            <a:ext cx="11507806" cy="6115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9685AC-13F5-5C94-62FB-6E9E35FA060B}"/>
              </a:ext>
            </a:extLst>
          </p:cNvPr>
          <p:cNvSpPr txBox="1"/>
          <p:nvPr/>
        </p:nvSpPr>
        <p:spPr>
          <a:xfrm>
            <a:off x="1543665" y="21812"/>
            <a:ext cx="10137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Does having an anonymity policy make employees feel more comfortable taking mental-health leave?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60914-EB75-72A9-D932-FA8F1D5B680A}"/>
              </a:ext>
            </a:extLst>
          </p:cNvPr>
          <p:cNvSpPr txBox="1"/>
          <p:nvPr/>
        </p:nvSpPr>
        <p:spPr>
          <a:xfrm>
            <a:off x="1030355" y="5941732"/>
            <a:ext cx="941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Companies with an anonymity policy report greater ease in taking mental-health leave.</a:t>
            </a:r>
          </a:p>
        </p:txBody>
      </p:sp>
    </p:spTree>
    <p:extLst>
      <p:ext uri="{BB962C8B-B14F-4D97-AF65-F5344CB8AC3E}">
        <p14:creationId xmlns:p14="http://schemas.microsoft.com/office/powerpoint/2010/main" val="1763144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support and treatment&#10;&#10;AI-generated content may be incorrect.">
            <a:extLst>
              <a:ext uri="{FF2B5EF4-FFF2-40B4-BE49-F238E27FC236}">
                <a16:creationId xmlns:a16="http://schemas.microsoft.com/office/drawing/2014/main" id="{2851F921-22FF-0BF2-95AF-3FB3D99DB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99" y="425146"/>
            <a:ext cx="10517068" cy="5811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43337A-34F2-D1BC-E9D0-EF00E0662636}"/>
              </a:ext>
            </a:extLst>
          </p:cNvPr>
          <p:cNvSpPr txBox="1"/>
          <p:nvPr/>
        </p:nvSpPr>
        <p:spPr>
          <a:xfrm>
            <a:off x="1406012" y="186813"/>
            <a:ext cx="11395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Does feeling supported by a supervisor influence whether respondents seek mental-health treatment?</a:t>
            </a:r>
            <a:endParaRPr lang="en-GB" dirty="0"/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4FF55-49BB-4EF1-3632-C523417A6694}"/>
              </a:ext>
            </a:extLst>
          </p:cNvPr>
          <p:cNvSpPr txBox="1"/>
          <p:nvPr/>
        </p:nvSpPr>
        <p:spPr>
          <a:xfrm>
            <a:off x="827633" y="5688199"/>
            <a:ext cx="9969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Employees who report low supervisor support show significantly higher treatment-seeking </a:t>
            </a:r>
            <a:r>
              <a:rPr lang="en-GB" dirty="0" err="1"/>
              <a:t>behavior</a:t>
            </a:r>
            <a:r>
              <a:rPr lang="en-GB" dirty="0"/>
              <a:t> compared to those who feel supported.</a:t>
            </a:r>
          </a:p>
        </p:txBody>
      </p:sp>
    </p:spTree>
    <p:extLst>
      <p:ext uri="{BB962C8B-B14F-4D97-AF65-F5344CB8AC3E}">
        <p14:creationId xmlns:p14="http://schemas.microsoft.com/office/powerpoint/2010/main" val="2309822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e chart with text&#10;&#10;AI-generated content may be incorrect.">
            <a:extLst>
              <a:ext uri="{FF2B5EF4-FFF2-40B4-BE49-F238E27FC236}">
                <a16:creationId xmlns:a16="http://schemas.microsoft.com/office/drawing/2014/main" id="{1F927CC7-C12B-6F3B-5A9A-468986024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52" y="609206"/>
            <a:ext cx="7487695" cy="5639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B8B643-EFB9-347A-0DDD-6025415DD0B6}"/>
              </a:ext>
            </a:extLst>
          </p:cNvPr>
          <p:cNvSpPr txBox="1"/>
          <p:nvPr/>
        </p:nvSpPr>
        <p:spPr>
          <a:xfrm>
            <a:off x="1297857" y="229648"/>
            <a:ext cx="915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What percentage of respondents have access to mental-health benefits at their workplace?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D806E-C2BB-A131-78EB-261721376A09}"/>
              </a:ext>
            </a:extLst>
          </p:cNvPr>
          <p:cNvSpPr txBox="1"/>
          <p:nvPr/>
        </p:nvSpPr>
        <p:spPr>
          <a:xfrm>
            <a:off x="501444" y="6046839"/>
            <a:ext cx="1169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Most respondents have access to mental-health benefits, but a significant minority still lack such support.</a:t>
            </a:r>
          </a:p>
        </p:txBody>
      </p:sp>
    </p:spTree>
    <p:extLst>
      <p:ext uri="{BB962C8B-B14F-4D97-AF65-F5344CB8AC3E}">
        <p14:creationId xmlns:p14="http://schemas.microsoft.com/office/powerpoint/2010/main" val="317774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red rectangle&#10;&#10;AI-generated content may be incorrect.">
            <a:extLst>
              <a:ext uri="{FF2B5EF4-FFF2-40B4-BE49-F238E27FC236}">
                <a16:creationId xmlns:a16="http://schemas.microsoft.com/office/drawing/2014/main" id="{51124B6F-79E8-1A69-9A77-75A520A28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0" y="775917"/>
            <a:ext cx="9993120" cy="5306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3EE8D9-C9BD-24A4-6028-C1B35D13FB36}"/>
              </a:ext>
            </a:extLst>
          </p:cNvPr>
          <p:cNvSpPr txBox="1"/>
          <p:nvPr/>
        </p:nvSpPr>
        <p:spPr>
          <a:xfrm>
            <a:off x="1012722" y="129586"/>
            <a:ext cx="10540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Do tech-company employees receive mental-health benefits?</a:t>
            </a:r>
            <a:endParaRPr lang="en-GB" dirty="0"/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A08641-E4FB-D0AA-BD2E-53B6277D71F1}"/>
              </a:ext>
            </a:extLst>
          </p:cNvPr>
          <p:cNvSpPr txBox="1"/>
          <p:nvPr/>
        </p:nvSpPr>
        <p:spPr>
          <a:xfrm>
            <a:off x="314633" y="5897416"/>
            <a:ext cx="10353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Tech-company employees show a high level of access to mental-health benefits.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9539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company size&#10;&#10;AI-generated content may be incorrect.">
            <a:extLst>
              <a:ext uri="{FF2B5EF4-FFF2-40B4-BE49-F238E27FC236}">
                <a16:creationId xmlns:a16="http://schemas.microsoft.com/office/drawing/2014/main" id="{6D76A453-992F-3198-703B-E64C0CBE3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55" y="404390"/>
            <a:ext cx="10669489" cy="57997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1F0CCE-3159-2DD9-AD0F-ADC1A15D5846}"/>
              </a:ext>
            </a:extLst>
          </p:cNvPr>
          <p:cNvSpPr txBox="1"/>
          <p:nvPr/>
        </p:nvSpPr>
        <p:spPr>
          <a:xfrm>
            <a:off x="176981" y="81224"/>
            <a:ext cx="9507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What percentage of employees within each company size have sought mental-health treatment?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D04C4-2933-3A64-8EB9-B6AAB37A7474}"/>
              </a:ext>
            </a:extLst>
          </p:cNvPr>
          <p:cNvSpPr txBox="1"/>
          <p:nvPr/>
        </p:nvSpPr>
        <p:spPr>
          <a:xfrm>
            <a:off x="0" y="5603991"/>
            <a:ext cx="12044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Treatment-seeking is most common in smaller companies (26–100 employees). Rates drop significantly in mid-large firms (500–1000), then rise again slightly in very large organizations (1000+ employees).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59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4AE2904-6641-2034-C4B8-3536F7049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07" y="209100"/>
            <a:ext cx="11898385" cy="6439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CB13AD-ED66-BF43-F947-88769346A90C}"/>
              </a:ext>
            </a:extLst>
          </p:cNvPr>
          <p:cNvSpPr txBox="1"/>
          <p:nvPr/>
        </p:nvSpPr>
        <p:spPr>
          <a:xfrm>
            <a:off x="146807" y="6048734"/>
            <a:ext cx="12016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heatmap shows that “Sometimes” is the most frequently reported level of work interference across all company sizes. Mental-health interference appears common in companies of all sizes, with no strong pattern indicating that larger companies experience more interference than smaller ones.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FA71EA-724B-7D4A-3B02-1DFD8103F178}"/>
              </a:ext>
            </a:extLst>
          </p:cNvPr>
          <p:cNvSpPr txBox="1"/>
          <p:nvPr/>
        </p:nvSpPr>
        <p:spPr>
          <a:xfrm>
            <a:off x="1170038" y="2623"/>
            <a:ext cx="11110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/>
              <a:t>How does company size relate to the frequency of work interference caused by mental-health issues?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513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68432DAC-D590-BB75-3F4C-ADDE2F51C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28" y="374588"/>
            <a:ext cx="11774543" cy="59082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F5FAFD-3950-AB72-75FA-9F1B738548E2}"/>
              </a:ext>
            </a:extLst>
          </p:cNvPr>
          <p:cNvSpPr txBox="1"/>
          <p:nvPr/>
        </p:nvSpPr>
        <p:spPr>
          <a:xfrm>
            <a:off x="285136" y="1769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Do tech-company employees experience work interference from mental-health issues?</a:t>
            </a:r>
            <a:endParaRPr lang="en-GB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1BA66-F94C-0962-3D68-DC4439D9694F}"/>
              </a:ext>
            </a:extLst>
          </p:cNvPr>
          <p:cNvSpPr txBox="1"/>
          <p:nvPr/>
        </p:nvSpPr>
        <p:spPr>
          <a:xfrm>
            <a:off x="550606" y="5821149"/>
            <a:ext cx="9645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Among tech-company employees, “Sometimes” is the most frequently reported level of work interference.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1198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86BA9E2-BB17-E3CC-0CE9-73CD6675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Mental-Health Outcomes &amp; Treatment Patterns</a:t>
            </a:r>
          </a:p>
        </p:txBody>
      </p:sp>
      <p:pic>
        <p:nvPicPr>
          <p:cNvPr id="6" name="Graphic 5" descr="Brain in head">
            <a:extLst>
              <a:ext uri="{FF2B5EF4-FFF2-40B4-BE49-F238E27FC236}">
                <a16:creationId xmlns:a16="http://schemas.microsoft.com/office/drawing/2014/main" id="{5A62D6A6-3D4C-63C6-BABD-FBA81DC18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23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A06BB6F2-3E57-7157-5572-ED103574E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6581"/>
            <a:ext cx="12192000" cy="45848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EDE29A-DA9C-FA4B-8B33-5CA972B09F6A}"/>
              </a:ext>
            </a:extLst>
          </p:cNvPr>
          <p:cNvSpPr txBox="1"/>
          <p:nvPr/>
        </p:nvSpPr>
        <p:spPr>
          <a:xfrm>
            <a:off x="285135" y="157316"/>
            <a:ext cx="1245747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How does age relate to mental-health consequences, and does gender affect this relationship?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CB2DE-050C-B2FC-BB07-25C5E68E6F7A}"/>
              </a:ext>
            </a:extLst>
          </p:cNvPr>
          <p:cNvSpPr txBox="1"/>
          <p:nvPr/>
        </p:nvSpPr>
        <p:spPr>
          <a:xfrm>
            <a:off x="2035278" y="5830529"/>
            <a:ext cx="834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Respondents aged 25–40 are the most likely to report mental-health consequences, especially females</a:t>
            </a:r>
          </a:p>
        </p:txBody>
      </p:sp>
    </p:spTree>
    <p:extLst>
      <p:ext uri="{BB962C8B-B14F-4D97-AF65-F5344CB8AC3E}">
        <p14:creationId xmlns:p14="http://schemas.microsoft.com/office/powerpoint/2010/main" val="109060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56944C22-6E85-A07B-23F5-A6DED4431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7664"/>
            <a:ext cx="12192000" cy="44826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FD9EB0-065E-61E7-85BE-2B6744090402}"/>
              </a:ext>
            </a:extLst>
          </p:cNvPr>
          <p:cNvSpPr txBox="1"/>
          <p:nvPr/>
        </p:nvSpPr>
        <p:spPr>
          <a:xfrm>
            <a:off x="1307689" y="98323"/>
            <a:ext cx="10019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What proportion of people in each gender group have sought mental-health treatment?</a:t>
            </a:r>
            <a:endParaRPr lang="en-GB" dirty="0"/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9EF08A-9771-80BE-B73C-3A45931179A6}"/>
              </a:ext>
            </a:extLst>
          </p:cNvPr>
          <p:cNvSpPr txBox="1"/>
          <p:nvPr/>
        </p:nvSpPr>
        <p:spPr>
          <a:xfrm>
            <a:off x="1479752" y="5467015"/>
            <a:ext cx="967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Females (69%) and respondents in the ‘other’ gender group (80%) have higher treatment rates than males (45%). The ‘other’ group shows the highest likelihood of seeking treatment.</a:t>
            </a:r>
          </a:p>
        </p:txBody>
      </p:sp>
    </p:spTree>
    <p:extLst>
      <p:ext uri="{BB962C8B-B14F-4D97-AF65-F5344CB8AC3E}">
        <p14:creationId xmlns:p14="http://schemas.microsoft.com/office/powerpoint/2010/main" val="3726029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56281AA-78FF-B6F2-531A-24CEE59B6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634"/>
            <a:ext cx="12192000" cy="47147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E58899-07FC-3D8E-58C0-4A6033AAD5B7}"/>
              </a:ext>
            </a:extLst>
          </p:cNvPr>
          <p:cNvSpPr txBox="1"/>
          <p:nvPr/>
        </p:nvSpPr>
        <p:spPr>
          <a:xfrm>
            <a:off x="137651" y="255639"/>
            <a:ext cx="1131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Does age influence how often mental-health issues interfere with work, and does treatment status change this pattern?</a:t>
            </a:r>
            <a:endParaRPr lang="en-GB" dirty="0"/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0C937-AEF1-5ECE-E3DE-432C1A48FB7B}"/>
              </a:ext>
            </a:extLst>
          </p:cNvPr>
          <p:cNvSpPr txBox="1"/>
          <p:nvPr/>
        </p:nvSpPr>
        <p:spPr>
          <a:xfrm>
            <a:off x="639097" y="5604387"/>
            <a:ext cx="906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Younger employees and those already receiving treatment report higher levels of work interference from mental-health issues.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1140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quares with black text&#10;&#10;AI-generated content may be incorrect.">
            <a:extLst>
              <a:ext uri="{FF2B5EF4-FFF2-40B4-BE49-F238E27FC236}">
                <a16:creationId xmlns:a16="http://schemas.microsoft.com/office/drawing/2014/main" id="{F0A85EEB-E9BB-9622-BB48-72C3EA0D0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97" y="337706"/>
            <a:ext cx="11326806" cy="5570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49B49E-D0A1-50B0-81A2-0EAA7932D186}"/>
              </a:ext>
            </a:extLst>
          </p:cNvPr>
          <p:cNvSpPr txBox="1"/>
          <p:nvPr/>
        </p:nvSpPr>
        <p:spPr>
          <a:xfrm>
            <a:off x="1612490" y="0"/>
            <a:ext cx="1047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Does offering mental-health benefits increase employees’ willingness to seek professional help?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15C02-1C66-2175-CFB6-A482F604C644}"/>
              </a:ext>
            </a:extLst>
          </p:cNvPr>
          <p:cNvSpPr txBox="1"/>
          <p:nvPr/>
        </p:nvSpPr>
        <p:spPr>
          <a:xfrm>
            <a:off x="1484453" y="5684662"/>
            <a:ext cx="8622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Employees with mental-health benefits are far more willing to seek professional help than those without benefits.</a:t>
            </a:r>
          </a:p>
        </p:txBody>
      </p:sp>
    </p:spTree>
    <p:extLst>
      <p:ext uri="{BB962C8B-B14F-4D97-AF65-F5344CB8AC3E}">
        <p14:creationId xmlns:p14="http://schemas.microsoft.com/office/powerpoint/2010/main" val="425770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620D35EC-1C56-96B0-AB8D-0E7395F9E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3563"/>
            <a:ext cx="12192000" cy="4710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06AFB7-523E-3AFE-E207-569E1CE3BCF8}"/>
              </a:ext>
            </a:extLst>
          </p:cNvPr>
          <p:cNvSpPr txBox="1"/>
          <p:nvPr/>
        </p:nvSpPr>
        <p:spPr>
          <a:xfrm>
            <a:off x="727587" y="383458"/>
            <a:ext cx="976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Is there a relationship between employee age, company size, and the likelihood of seeking mental-health treatment?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6B15B-DB93-AB77-3E4E-C112F37558F8}"/>
              </a:ext>
            </a:extLst>
          </p:cNvPr>
          <p:cNvSpPr txBox="1"/>
          <p:nvPr/>
        </p:nvSpPr>
        <p:spPr>
          <a:xfrm>
            <a:off x="1317522" y="5643716"/>
            <a:ext cx="9556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is no strong relationship between age or company size and seeking treatment, suggesting other factors drive the decision.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0990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lose up of pushpins on roadmap route">
            <a:extLst>
              <a:ext uri="{FF2B5EF4-FFF2-40B4-BE49-F238E27FC236}">
                <a16:creationId xmlns:a16="http://schemas.microsoft.com/office/drawing/2014/main" id="{07570733-80CC-B0C1-8C50-95494FFBC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63" b="35315"/>
          <a:stretch>
            <a:fillRect/>
          </a:stretch>
        </p:blipFill>
        <p:spPr>
          <a:xfrm>
            <a:off x="-32" y="10"/>
            <a:ext cx="12192031" cy="49150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6D919A-FC3E-4B4E-BAF0-ED6CFB8DC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C1923-0959-991E-DFCD-9DD912A4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Geographical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476DC-9ED6-B505-12B5-26F80FD32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5212" y="5943600"/>
            <a:ext cx="10058400" cy="543513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5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6ACBD-1C82-4782-AA7C-05504DD7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365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EEB0569F-E2C9-338F-439C-81653E485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68" y="271612"/>
            <a:ext cx="11498280" cy="5942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CE5234-F07F-7766-872B-04C68E16C846}"/>
              </a:ext>
            </a:extLst>
          </p:cNvPr>
          <p:cNvSpPr txBox="1"/>
          <p:nvPr/>
        </p:nvSpPr>
        <p:spPr>
          <a:xfrm>
            <a:off x="442452" y="5940057"/>
            <a:ext cx="1130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USA, UK, and Canada have the highest numbers of respondents reporting mental-health consequences..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0F2C89-C60E-0678-7470-11CFC4B465C2}"/>
              </a:ext>
            </a:extLst>
          </p:cNvPr>
          <p:cNvSpPr txBox="1"/>
          <p:nvPr/>
        </p:nvSpPr>
        <p:spPr>
          <a:xfrm>
            <a:off x="1209368" y="-51554"/>
            <a:ext cx="10864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Which countries have the highest numbers of respondents reporting mental-health consequences?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749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&#10;&#10;AI-generated content may be incorrect.">
            <a:extLst>
              <a:ext uri="{FF2B5EF4-FFF2-40B4-BE49-F238E27FC236}">
                <a16:creationId xmlns:a16="http://schemas.microsoft.com/office/drawing/2014/main" id="{9C4DE35B-6A65-5955-EED4-D26A7626F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547380"/>
            <a:ext cx="12113342" cy="58048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BDEA52-B057-2FD1-71E8-F6E40032ACF4}"/>
              </a:ext>
            </a:extLst>
          </p:cNvPr>
          <p:cNvSpPr txBox="1"/>
          <p:nvPr/>
        </p:nvSpPr>
        <p:spPr>
          <a:xfrm>
            <a:off x="599768" y="157316"/>
            <a:ext cx="11769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In which countries do respondents most strongly agree that mental health is as important as physical health?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431A1-2003-D137-9300-ECE678DE7FBF}"/>
              </a:ext>
            </a:extLst>
          </p:cNvPr>
          <p:cNvSpPr txBox="1"/>
          <p:nvPr/>
        </p:nvSpPr>
        <p:spPr>
          <a:xfrm>
            <a:off x="245806" y="5834651"/>
            <a:ext cx="12477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Austria, Denmark, Thailand, and Colombia all show 100%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agreement.The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USA is moderately  at 51.6%, while the UK has one of the lowest levels at 48.6%.</a:t>
            </a:r>
          </a:p>
        </p:txBody>
      </p:sp>
    </p:spTree>
    <p:extLst>
      <p:ext uri="{BB962C8B-B14F-4D97-AF65-F5344CB8AC3E}">
        <p14:creationId xmlns:p14="http://schemas.microsoft.com/office/powerpoint/2010/main" val="3351474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5173F5-BC2A-DF0A-8B5B-EC32C4A62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0667"/>
            <a:ext cx="12192000" cy="4576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F8D8D6-85FA-7107-3690-1ACBE1C3D072}"/>
              </a:ext>
            </a:extLst>
          </p:cNvPr>
          <p:cNvSpPr txBox="1"/>
          <p:nvPr/>
        </p:nvSpPr>
        <p:spPr>
          <a:xfrm>
            <a:off x="766916" y="290954"/>
            <a:ext cx="8780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How does the distribution of mental-health treatment vary across countries and company sizes?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F399D-0BFB-5B78-BF0D-114BD95C876A}"/>
              </a:ext>
            </a:extLst>
          </p:cNvPr>
          <p:cNvSpPr txBox="1"/>
          <p:nvPr/>
        </p:nvSpPr>
        <p:spPr>
          <a:xfrm>
            <a:off x="1258529" y="5643716"/>
            <a:ext cx="10127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Treatment distribution varies across both countries and company sizes, with no uniform pattern</a:t>
            </a:r>
          </a:p>
        </p:txBody>
      </p:sp>
    </p:spTree>
    <p:extLst>
      <p:ext uri="{BB962C8B-B14F-4D97-AF65-F5344CB8AC3E}">
        <p14:creationId xmlns:p14="http://schemas.microsoft.com/office/powerpoint/2010/main" val="3324245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FEE198E8-3DE7-DF6E-144E-04DEA8488D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6247" b="187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C3BF81-C013-561C-1D63-C15292074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Thank you For Your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13A7C-B237-B2B7-AA04-C197D519C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816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13296</TotalTime>
  <Words>831</Words>
  <Application>Microsoft Office PowerPoint</Application>
  <PresentationFormat>Widescreen</PresentationFormat>
  <Paragraphs>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Retrospect</vt:lpstr>
      <vt:lpstr>mental-health trends among employees Analysis</vt:lpstr>
      <vt:lpstr>Agenda</vt:lpstr>
      <vt:lpstr>Overview</vt:lpstr>
      <vt:lpstr>Customer Demographics</vt:lpstr>
      <vt:lpstr>What is the overall gender distribution of survey respondents?</vt:lpstr>
      <vt:lpstr>PowerPoint Presentation</vt:lpstr>
      <vt:lpstr>PowerPoint Presentation</vt:lpstr>
      <vt:lpstr>PowerPoint Presentation</vt:lpstr>
      <vt:lpstr>PowerPoint Presentation</vt:lpstr>
      <vt:lpstr>Workplace &amp; Behavioral Patterns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Mental-Health Outcomes &amp; Treatment Patterns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Geographical Insights</vt:lpstr>
      <vt:lpstr>PowerPoint Presentation</vt:lpstr>
      <vt:lpstr>PowerPoint Presentation</vt:lpstr>
      <vt:lpstr>PowerPoint Presentation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Karim Deheya</dc:creator>
  <cp:lastModifiedBy>Karim Deheya</cp:lastModifiedBy>
  <cp:revision>12</cp:revision>
  <dcterms:created xsi:type="dcterms:W3CDTF">2025-11-13T22:24:38Z</dcterms:created>
  <dcterms:modified xsi:type="dcterms:W3CDTF">2025-12-05T13:05:22Z</dcterms:modified>
</cp:coreProperties>
</file>