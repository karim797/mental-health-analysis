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6" r:id="rId1"/>
  </p:sldMasterIdLst>
  <p:notesMasterIdLst>
    <p:notesMasterId r:id="rId31"/>
  </p:notesMasterIdLst>
  <p:sldIdLst>
    <p:sldId id="256" r:id="rId2"/>
    <p:sldId id="288" r:id="rId3"/>
    <p:sldId id="289" r:id="rId4"/>
    <p:sldId id="280" r:id="rId5"/>
    <p:sldId id="257" r:id="rId6"/>
    <p:sldId id="268" r:id="rId7"/>
    <p:sldId id="267" r:id="rId8"/>
    <p:sldId id="258" r:id="rId9"/>
    <p:sldId id="270" r:id="rId10"/>
    <p:sldId id="282" r:id="rId11"/>
    <p:sldId id="260" r:id="rId12"/>
    <p:sldId id="276" r:id="rId13"/>
    <p:sldId id="273" r:id="rId14"/>
    <p:sldId id="279" r:id="rId15"/>
    <p:sldId id="274" r:id="rId16"/>
    <p:sldId id="264" r:id="rId17"/>
    <p:sldId id="271" r:id="rId18"/>
    <p:sldId id="278" r:id="rId19"/>
    <p:sldId id="283" r:id="rId20"/>
    <p:sldId id="261" r:id="rId21"/>
    <p:sldId id="269" r:id="rId22"/>
    <p:sldId id="265" r:id="rId23"/>
    <p:sldId id="277" r:id="rId24"/>
    <p:sldId id="262" r:id="rId25"/>
    <p:sldId id="286" r:id="rId26"/>
    <p:sldId id="272" r:id="rId27"/>
    <p:sldId id="275" r:id="rId28"/>
    <p:sldId id="263" r:id="rId29"/>
    <p:sldId id="292"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58B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EEC689-D1A9-4BF7-BF5D-1A5AA2374A3F}" type="datetimeFigureOut">
              <a:rPr lang="en-GB" smtClean="0"/>
              <a:t>18/11/2025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5C8663-A8A2-4A66-BEEA-0AB204962578}" type="slidenum">
              <a:rPr lang="en-GB" smtClean="0"/>
              <a:t>‹#›</a:t>
            </a:fld>
            <a:endParaRPr lang="en-GB"/>
          </a:p>
        </p:txBody>
      </p:sp>
    </p:spTree>
    <p:extLst>
      <p:ext uri="{BB962C8B-B14F-4D97-AF65-F5344CB8AC3E}">
        <p14:creationId xmlns:p14="http://schemas.microsoft.com/office/powerpoint/2010/main" val="10281415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GB"/>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C485584D-7D79-4248-9986-4CA35242F944}"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590046-DA73-4BBF-84B5-C08E6F75191A}"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9974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485584D-7D79-4248-9986-4CA35242F944}"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1540069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GB"/>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485584D-7D79-4248-9986-4CA35242F944}"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590046-DA73-4BBF-84B5-C08E6F75191A}"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0439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GB"/>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C485584D-7D79-4248-9986-4CA35242F944}" type="datetimeFigureOut">
              <a:rPr lang="en-US" smtClean="0"/>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3403185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GB"/>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C485584D-7D79-4248-9986-4CA35242F944}" type="datetimeFigureOut">
              <a:rPr lang="en-US" smtClean="0"/>
              <a:t>11/18/2025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3599678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C485584D-7D79-4248-9986-4CA35242F944}" type="datetimeFigureOut">
              <a:rPr lang="en-US" smtClean="0"/>
              <a:t>11/18/2025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1207843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7" name="Date Placeholder 6"/>
          <p:cNvSpPr>
            <a:spLocks noGrp="1"/>
          </p:cNvSpPr>
          <p:nvPr>
            <p:ph type="dt" sz="half" idx="10"/>
          </p:nvPr>
        </p:nvSpPr>
        <p:spPr/>
        <p:txBody>
          <a:bodyPr/>
          <a:lstStyle/>
          <a:p>
            <a:fld id="{C485584D-7D79-4248-9986-4CA35242F944}" type="datetimeFigureOut">
              <a:rPr lang="en-US" smtClean="0"/>
              <a:t>11/18/2025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3638318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GB"/>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C485584D-7D79-4248-9986-4CA35242F944}" type="datetimeFigureOut">
              <a:rPr lang="en-US" smtClean="0"/>
              <a:t>11/18/2025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9590046-DA73-4BBF-84B5-C08E6F75191A}" type="slidenum">
              <a:rPr lang="en-US" smtClean="0"/>
              <a:t>‹#›</a:t>
            </a:fld>
            <a:endParaRPr lang="en-US"/>
          </a:p>
        </p:txBody>
      </p:sp>
    </p:spTree>
    <p:extLst>
      <p:ext uri="{BB962C8B-B14F-4D97-AF65-F5344CB8AC3E}">
        <p14:creationId xmlns:p14="http://schemas.microsoft.com/office/powerpoint/2010/main" val="3231182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GB"/>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C485584D-7D79-4248-9986-4CA35242F944}" type="datetimeFigureOut">
              <a:rPr lang="en-US" smtClean="0"/>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13010360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485584D-7D79-4248-9986-4CA35242F944}"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36396713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485584D-7D79-4248-9986-4CA35242F944}"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30264315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GB"/>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C485584D-7D79-4248-9986-4CA35242F944}" type="datetimeFigureOut">
              <a:rPr lang="en-US" smtClean="0"/>
              <a:t>11/18/2025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9590046-DA73-4BBF-84B5-C08E6F75191A}"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4922251"/>
      </p:ext>
    </p:extLst>
  </p:cSld>
  <p:clrMap bg1="lt1" tx1="dk1" bg2="lt2" tx2="dk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6000"/>
                <a:shade val="99000"/>
                <a:satMod val="140000"/>
              </a:schemeClr>
            </a:gs>
            <a:gs pos="65000">
              <a:schemeClr val="bg1">
                <a:tint val="100000"/>
                <a:shade val="80000"/>
                <a:satMod val="130000"/>
              </a:schemeClr>
            </a:gs>
            <a:gs pos="100000">
              <a:schemeClr val="bg1">
                <a:tint val="100000"/>
                <a:shade val="48000"/>
                <a:satMod val="120000"/>
              </a:schemeClr>
            </a:gs>
          </a:gsLst>
          <a:lin ang="16200000" scaled="0"/>
        </a:gradFill>
        <a:effectLst/>
      </p:bgPr>
    </p:bg>
    <p:spTree>
      <p:nvGrpSpPr>
        <p:cNvPr id="1" name=""/>
        <p:cNvGrpSpPr/>
        <p:nvPr/>
      </p:nvGrpSpPr>
      <p:grpSpPr>
        <a:xfrm>
          <a:off x="0" y="0"/>
          <a:ext cx="0" cy="0"/>
          <a:chOff x="0" y="0"/>
          <a:chExt cx="0" cy="0"/>
        </a:xfrm>
      </p:grpSpPr>
      <p:pic>
        <p:nvPicPr>
          <p:cNvPr id="4" name="Picture 3" descr="Coloured pencils inside a pencil holder which is on top of a wood table">
            <a:extLst>
              <a:ext uri="{FF2B5EF4-FFF2-40B4-BE49-F238E27FC236}">
                <a16:creationId xmlns:a16="http://schemas.microsoft.com/office/drawing/2014/main" id="{8A5503A3-649A-1A04-AABB-1FDBACD53A2A}"/>
              </a:ext>
            </a:extLst>
          </p:cNvPr>
          <p:cNvPicPr>
            <a:picLocks noChangeAspect="1"/>
          </p:cNvPicPr>
          <p:nvPr/>
        </p:nvPicPr>
        <p:blipFill>
          <a:blip r:embed="rId2">
            <a:alphaModFix amt="35000"/>
          </a:blip>
          <a:srcRect t="15730"/>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A4B51C0D-DC32-0EC1-9591-C5AC63139864}"/>
              </a:ext>
            </a:extLst>
          </p:cNvPr>
          <p:cNvSpPr>
            <a:spLocks noGrp="1"/>
          </p:cNvSpPr>
          <p:nvPr>
            <p:ph type="ctrTitle"/>
          </p:nvPr>
        </p:nvSpPr>
        <p:spPr>
          <a:xfrm>
            <a:off x="1097280" y="758952"/>
            <a:ext cx="10058400" cy="3566160"/>
          </a:xfrm>
        </p:spPr>
        <p:txBody>
          <a:bodyPr>
            <a:normAutofit/>
          </a:bodyPr>
          <a:lstStyle/>
          <a:p>
            <a:r>
              <a:rPr lang="en-GB">
                <a:solidFill>
                  <a:srgbClr val="FFFFFF"/>
                </a:solidFill>
              </a:rPr>
              <a:t>Mid-Project</a:t>
            </a:r>
            <a:br>
              <a:rPr lang="en-GB">
                <a:solidFill>
                  <a:srgbClr val="FFFFFF"/>
                </a:solidFill>
              </a:rPr>
            </a:br>
            <a:r>
              <a:rPr lang="en-GB">
                <a:solidFill>
                  <a:srgbClr val="FFFFFF"/>
                </a:solidFill>
              </a:rPr>
              <a:t>Analysis</a:t>
            </a:r>
          </a:p>
        </p:txBody>
      </p:sp>
      <p:sp>
        <p:nvSpPr>
          <p:cNvPr id="3" name="Subtitle 2">
            <a:extLst>
              <a:ext uri="{FF2B5EF4-FFF2-40B4-BE49-F238E27FC236}">
                <a16:creationId xmlns:a16="http://schemas.microsoft.com/office/drawing/2014/main" id="{247E9BD3-CE42-EA5A-B7A1-B8AFA811770F}"/>
              </a:ext>
            </a:extLst>
          </p:cNvPr>
          <p:cNvSpPr>
            <a:spLocks noGrp="1"/>
          </p:cNvSpPr>
          <p:nvPr>
            <p:ph type="subTitle" idx="1"/>
          </p:nvPr>
        </p:nvSpPr>
        <p:spPr>
          <a:xfrm>
            <a:off x="1100051" y="4455620"/>
            <a:ext cx="10058400" cy="1143000"/>
          </a:xfrm>
        </p:spPr>
        <p:txBody>
          <a:bodyPr>
            <a:normAutofit/>
          </a:bodyPr>
          <a:lstStyle/>
          <a:p>
            <a:r>
              <a:rPr lang="en-GB">
                <a:solidFill>
                  <a:srgbClr val="FFFFFF"/>
                </a:solidFill>
              </a:rPr>
              <a:t>By:Karim deheya</a:t>
            </a:r>
          </a:p>
        </p:txBody>
      </p:sp>
      <p:cxnSp>
        <p:nvCxnSpPr>
          <p:cNvPr id="9" name="Straight Connector 8">
            <a:extLst>
              <a:ext uri="{FF2B5EF4-FFF2-40B4-BE49-F238E27FC236}">
                <a16:creationId xmlns:a16="http://schemas.microsoft.com/office/drawing/2014/main" id="{4071767D-5FF7-4508-B8B7-BB60FF3AB2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C4E89C94-E462-4566-A15A-32835FD68B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3" name="Rectangle 12">
            <a:extLst>
              <a:ext uri="{FF2B5EF4-FFF2-40B4-BE49-F238E27FC236}">
                <a16:creationId xmlns:a16="http://schemas.microsoft.com/office/drawing/2014/main" id="{E25F4A20-71FB-4A26-92E2-89DED49264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346170990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6000"/>
                <a:shade val="99000"/>
                <a:satMod val="140000"/>
              </a:schemeClr>
            </a:gs>
            <a:gs pos="65000">
              <a:schemeClr val="bg1">
                <a:tint val="100000"/>
                <a:shade val="80000"/>
                <a:satMod val="130000"/>
              </a:schemeClr>
            </a:gs>
            <a:gs pos="100000">
              <a:schemeClr val="bg1">
                <a:tint val="100000"/>
                <a:shade val="48000"/>
                <a:satMod val="120000"/>
              </a:schemeClr>
            </a:gs>
          </a:gsLst>
          <a:lin ang="16200000" scaled="0"/>
        </a:gra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600B5AE2-C5CC-499C-8F2D-249888BE22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1" name="Rectangle 20">
            <a:extLst>
              <a:ext uri="{FF2B5EF4-FFF2-40B4-BE49-F238E27FC236}">
                <a16:creationId xmlns:a16="http://schemas.microsoft.com/office/drawing/2014/main" id="{BA7A3698-B350-40E5-8475-9BCC41A08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cxnSp>
        <p:nvCxnSpPr>
          <p:cNvPr id="23" name="Straight Connector 22">
            <a:extLst>
              <a:ext uri="{FF2B5EF4-FFF2-40B4-BE49-F238E27FC236}">
                <a16:creationId xmlns:a16="http://schemas.microsoft.com/office/drawing/2014/main" id="{0AC655C7-EC94-4BE6-84C8-2F9EFBBB27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Writing an appointment on a paper agenda">
            <a:extLst>
              <a:ext uri="{FF2B5EF4-FFF2-40B4-BE49-F238E27FC236}">
                <a16:creationId xmlns:a16="http://schemas.microsoft.com/office/drawing/2014/main" id="{F5A7A278-7177-F11C-BC65-B0C19BEB05E3}"/>
              </a:ext>
            </a:extLst>
          </p:cNvPr>
          <p:cNvPicPr>
            <a:picLocks noChangeAspect="1"/>
          </p:cNvPicPr>
          <p:nvPr/>
        </p:nvPicPr>
        <p:blipFill>
          <a:blip r:embed="rId2">
            <a:alphaModFix amt="35000"/>
          </a:blip>
          <a:srcRect t="15730"/>
          <a:stretch>
            <a:fillRect/>
          </a:stretch>
        </p:blipFill>
        <p:spPr>
          <a:xfrm>
            <a:off x="-1" y="10"/>
            <a:ext cx="12191980" cy="6857990"/>
          </a:xfrm>
          <a:prstGeom prst="rect">
            <a:avLst/>
          </a:prstGeom>
        </p:spPr>
      </p:pic>
      <p:cxnSp>
        <p:nvCxnSpPr>
          <p:cNvPr id="25" name="Straight Connector 24">
            <a:extLst>
              <a:ext uri="{FF2B5EF4-FFF2-40B4-BE49-F238E27FC236}">
                <a16:creationId xmlns:a16="http://schemas.microsoft.com/office/drawing/2014/main" id="{45549E29-E797-4A00-B030-3AB01640CFD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5E99BE90-3CB7-B523-DCDD-47E08DD49ADB}"/>
              </a:ext>
            </a:extLst>
          </p:cNvPr>
          <p:cNvSpPr>
            <a:spLocks noGrp="1"/>
          </p:cNvSpPr>
          <p:nvPr>
            <p:ph type="ctrTitle"/>
          </p:nvPr>
        </p:nvSpPr>
        <p:spPr>
          <a:xfrm>
            <a:off x="1066789" y="-28"/>
            <a:ext cx="10058400" cy="868956"/>
          </a:xfrm>
        </p:spPr>
        <p:txBody>
          <a:bodyPr vert="horz" lIns="91440" tIns="45720" rIns="91440" bIns="45720" rtlCol="0" anchor="b">
            <a:normAutofit/>
          </a:bodyPr>
          <a:lstStyle/>
          <a:p>
            <a:r>
              <a:rPr lang="en-US" sz="4800" kern="1200" spc="-50" baseline="0" dirty="0">
                <a:solidFill>
                  <a:schemeClr val="tx1"/>
                </a:solidFill>
                <a:latin typeface="+mj-lt"/>
                <a:ea typeface="+mj-ea"/>
                <a:cs typeface="+mj-cs"/>
              </a:rPr>
              <a:t>Agenda</a:t>
            </a:r>
          </a:p>
        </p:txBody>
      </p:sp>
      <p:sp>
        <p:nvSpPr>
          <p:cNvPr id="3" name="Subtitle 2">
            <a:extLst>
              <a:ext uri="{FF2B5EF4-FFF2-40B4-BE49-F238E27FC236}">
                <a16:creationId xmlns:a16="http://schemas.microsoft.com/office/drawing/2014/main" id="{58D0BA85-96B5-DE3D-4526-77557EA6137A}"/>
              </a:ext>
            </a:extLst>
          </p:cNvPr>
          <p:cNvSpPr>
            <a:spLocks noGrp="1"/>
          </p:cNvSpPr>
          <p:nvPr>
            <p:ph type="subTitle" idx="1"/>
          </p:nvPr>
        </p:nvSpPr>
        <p:spPr>
          <a:xfrm>
            <a:off x="1097280" y="962896"/>
            <a:ext cx="10058400" cy="5139043"/>
          </a:xfrm>
        </p:spPr>
        <p:txBody>
          <a:bodyPr vert="horz" lIns="0" tIns="45720" rIns="0" bIns="45720" numCol="2" rtlCol="0">
            <a:normAutofit fontScale="32500" lnSpcReduction="20000"/>
          </a:bodyPr>
          <a:lstStyle/>
          <a:p>
            <a:r>
              <a:rPr lang="en-US" sz="2600" b="1" dirty="0">
                <a:solidFill>
                  <a:schemeClr val="tx1"/>
                </a:solidFill>
                <a:latin typeface="+mn-lt"/>
              </a:rPr>
              <a:t>1-Customer Demographics</a:t>
            </a:r>
          </a:p>
          <a:p>
            <a:pPr marL="171450" indent="-171450">
              <a:buFont typeface="Calibri" panose="020F0502020204030204" pitchFamily="34" charset="0"/>
              <a:buChar char="•"/>
            </a:pPr>
            <a:r>
              <a:rPr lang="en-US" sz="2800" dirty="0">
                <a:solidFill>
                  <a:schemeClr val="tx1"/>
                </a:solidFill>
                <a:latin typeface="+mn-lt"/>
              </a:rPr>
              <a:t>gender distribution</a:t>
            </a:r>
          </a:p>
          <a:p>
            <a:pPr marL="171450" indent="-171450">
              <a:buFont typeface="Calibri" panose="020F0502020204030204" pitchFamily="34" charset="0"/>
              <a:buChar char="•"/>
            </a:pPr>
            <a:r>
              <a:rPr lang="en-US" sz="2800" dirty="0">
                <a:solidFill>
                  <a:schemeClr val="tx1"/>
                </a:solidFill>
                <a:latin typeface="+mn-lt"/>
              </a:rPr>
              <a:t>Age distribution across gender groups</a:t>
            </a:r>
          </a:p>
          <a:p>
            <a:pPr marL="171450" indent="-171450">
              <a:buFont typeface="Calibri" panose="020F0502020204030204" pitchFamily="34" charset="0"/>
              <a:buChar char="•"/>
            </a:pPr>
            <a:r>
              <a:rPr lang="en-US" sz="2800" dirty="0">
                <a:solidFill>
                  <a:schemeClr val="tx1"/>
                </a:solidFill>
                <a:latin typeface="+mn-lt"/>
              </a:rPr>
              <a:t>Mental-health consequences by gender</a:t>
            </a:r>
          </a:p>
          <a:p>
            <a:pPr marL="171450" indent="-171450">
              <a:buFont typeface="Calibri" panose="020F0502020204030204" pitchFamily="34" charset="0"/>
              <a:buChar char="•"/>
            </a:pPr>
            <a:r>
              <a:rPr lang="en-US" sz="2800" dirty="0">
                <a:solidFill>
                  <a:schemeClr val="tx1"/>
                </a:solidFill>
                <a:latin typeface="+mn-lt"/>
              </a:rPr>
              <a:t>Treatment counts and treatment rates by gender</a:t>
            </a:r>
          </a:p>
          <a:p>
            <a:pPr marL="171450" indent="-171450">
              <a:buFont typeface="Calibri" panose="020F0502020204030204" pitchFamily="34" charset="0"/>
              <a:buChar char="•"/>
            </a:pPr>
            <a:r>
              <a:rPr lang="en-US" sz="2800" dirty="0">
                <a:solidFill>
                  <a:schemeClr val="tx1"/>
                </a:solidFill>
                <a:latin typeface="+mn-lt"/>
              </a:rPr>
              <a:t>Family history of mental illness </a:t>
            </a:r>
          </a:p>
          <a:p>
            <a:r>
              <a:rPr lang="en-US" sz="2800" dirty="0">
                <a:solidFill>
                  <a:schemeClr val="tx1"/>
                </a:solidFill>
                <a:latin typeface="+mn-lt"/>
              </a:rPr>
              <a:t>Across gender groups</a:t>
            </a:r>
          </a:p>
          <a:p>
            <a:r>
              <a:rPr lang="en-US" sz="2800" dirty="0">
                <a:solidFill>
                  <a:schemeClr val="tx1"/>
                </a:solidFill>
                <a:latin typeface="+mn-lt"/>
              </a:rPr>
              <a:t>2-</a:t>
            </a:r>
            <a:r>
              <a:rPr lang="en-US" sz="2800" b="1" dirty="0">
                <a:solidFill>
                  <a:schemeClr val="tx1"/>
                </a:solidFill>
                <a:latin typeface="+mn-lt"/>
              </a:rPr>
              <a:t>Workplace &amp; Behavioral Patterns</a:t>
            </a:r>
          </a:p>
          <a:p>
            <a:pPr marL="171450" indent="-171450">
              <a:buFont typeface="Calibri" panose="020F0502020204030204" pitchFamily="34" charset="0"/>
              <a:buChar char="•"/>
            </a:pPr>
            <a:r>
              <a:rPr lang="en-US" sz="2800" dirty="0">
                <a:solidFill>
                  <a:schemeClr val="tx1"/>
                </a:solidFill>
                <a:latin typeface="+mn-lt"/>
              </a:rPr>
              <a:t>Comparison of remote vs non-remote</a:t>
            </a:r>
          </a:p>
          <a:p>
            <a:pPr marL="171450" indent="-171450">
              <a:buFont typeface="Calibri" panose="020F0502020204030204" pitchFamily="34" charset="0"/>
              <a:buChar char="•"/>
            </a:pPr>
            <a:r>
              <a:rPr lang="en-US" sz="2800" dirty="0">
                <a:solidFill>
                  <a:schemeClr val="tx1"/>
                </a:solidFill>
                <a:latin typeface="+mn-lt"/>
              </a:rPr>
              <a:t> mental-health impact</a:t>
            </a:r>
          </a:p>
          <a:p>
            <a:pPr marL="171450" indent="-171450">
              <a:buFont typeface="Calibri" panose="020F0502020204030204" pitchFamily="34" charset="0"/>
              <a:buChar char="•"/>
            </a:pPr>
            <a:r>
              <a:rPr lang="en-US" sz="2800" dirty="0">
                <a:solidFill>
                  <a:schemeClr val="tx1"/>
                </a:solidFill>
                <a:latin typeface="+mn-lt"/>
              </a:rPr>
              <a:t>Effect of anonymity policies on taking </a:t>
            </a:r>
          </a:p>
          <a:p>
            <a:r>
              <a:rPr lang="en-US" sz="2800" dirty="0">
                <a:solidFill>
                  <a:schemeClr val="tx1"/>
                </a:solidFill>
                <a:latin typeface="+mn-lt"/>
              </a:rPr>
              <a:t>mental-health leave</a:t>
            </a:r>
          </a:p>
          <a:p>
            <a:pPr marL="171450" indent="-171450">
              <a:buFont typeface="Calibri" panose="020F0502020204030204" pitchFamily="34" charset="0"/>
              <a:buChar char="•"/>
            </a:pPr>
            <a:r>
              <a:rPr lang="en-US" sz="2800" dirty="0">
                <a:solidFill>
                  <a:schemeClr val="tx1"/>
                </a:solidFill>
                <a:latin typeface="+mn-lt"/>
              </a:rPr>
              <a:t>Supervisor support and its relationship to</a:t>
            </a:r>
          </a:p>
          <a:p>
            <a:r>
              <a:rPr lang="en-US" sz="2800" dirty="0">
                <a:solidFill>
                  <a:schemeClr val="tx1"/>
                </a:solidFill>
                <a:latin typeface="+mn-lt"/>
              </a:rPr>
              <a:t> treatment-seeking</a:t>
            </a:r>
          </a:p>
          <a:p>
            <a:pPr marL="171450" indent="-171450">
              <a:buFont typeface="Calibri" panose="020F0502020204030204" pitchFamily="34" charset="0"/>
              <a:buChar char="•"/>
            </a:pPr>
            <a:r>
              <a:rPr lang="en-US" sz="2800" dirty="0">
                <a:solidFill>
                  <a:schemeClr val="tx1"/>
                </a:solidFill>
                <a:latin typeface="+mn-lt"/>
              </a:rPr>
              <a:t>Work interference levels across company sizes</a:t>
            </a:r>
          </a:p>
          <a:p>
            <a:pPr marL="171450" indent="-171450">
              <a:buFont typeface="Calibri" panose="020F0502020204030204" pitchFamily="34" charset="0"/>
              <a:buChar char="•"/>
            </a:pPr>
            <a:r>
              <a:rPr lang="en-US" sz="2800" dirty="0">
                <a:solidFill>
                  <a:schemeClr val="tx1"/>
                </a:solidFill>
                <a:latin typeface="+mn-lt"/>
              </a:rPr>
              <a:t>Treatment-seeking percentages by company size</a:t>
            </a:r>
          </a:p>
          <a:p>
            <a:pPr marL="171450" indent="-171450">
              <a:buFont typeface="Calibri" panose="020F0502020204030204" pitchFamily="34" charset="0"/>
              <a:buChar char="•"/>
            </a:pPr>
            <a:r>
              <a:rPr lang="en-US" sz="2800" dirty="0">
                <a:solidFill>
                  <a:schemeClr val="tx1"/>
                </a:solidFill>
                <a:latin typeface="+mn-lt"/>
              </a:rPr>
              <a:t>Employee access to mental-health benefits</a:t>
            </a:r>
          </a:p>
          <a:p>
            <a:pPr marL="171450" indent="-171450">
              <a:buFont typeface="Calibri" panose="020F0502020204030204" pitchFamily="34" charset="0"/>
              <a:buChar char="•"/>
            </a:pPr>
            <a:r>
              <a:rPr lang="en-US" sz="2800" dirty="0">
                <a:solidFill>
                  <a:schemeClr val="tx1"/>
                </a:solidFill>
                <a:latin typeface="+mn-lt"/>
              </a:rPr>
              <a:t>Mental-health benefits in Tech vs Non-Tech industries</a:t>
            </a:r>
          </a:p>
          <a:p>
            <a:pPr marL="171450" indent="-171450">
              <a:buFont typeface="Calibri" panose="020F0502020204030204" pitchFamily="34" charset="0"/>
              <a:buChar char="•"/>
            </a:pPr>
            <a:r>
              <a:rPr lang="en-US" sz="2800" dirty="0">
                <a:solidFill>
                  <a:schemeClr val="tx1"/>
                </a:solidFill>
                <a:latin typeface="+mn-lt"/>
              </a:rPr>
              <a:t>Work interference frequency in Tech vs Non-Tech sectors</a:t>
            </a:r>
          </a:p>
          <a:p>
            <a:endParaRPr lang="en-US" sz="2800" dirty="0">
              <a:solidFill>
                <a:schemeClr val="tx1"/>
              </a:solidFill>
              <a:latin typeface="+mn-lt"/>
            </a:endParaRPr>
          </a:p>
          <a:p>
            <a:r>
              <a:rPr lang="en-US" sz="2800" b="1" dirty="0">
                <a:solidFill>
                  <a:schemeClr val="tx1"/>
                </a:solidFill>
                <a:latin typeface="+mn-lt"/>
              </a:rPr>
              <a:t>3- Mental-Health Outcomes &amp; Treatment Patterns</a:t>
            </a:r>
          </a:p>
          <a:p>
            <a:pPr marL="171450" indent="-171450">
              <a:buFont typeface="Calibri" panose="020F0502020204030204" pitchFamily="34" charset="0"/>
              <a:buChar char="•"/>
            </a:pPr>
            <a:r>
              <a:rPr lang="en-US" sz="2800" dirty="0">
                <a:solidFill>
                  <a:schemeClr val="tx1"/>
                </a:solidFill>
                <a:latin typeface="+mn-lt"/>
              </a:rPr>
              <a:t>Age × gender patterns in mental-health consequences</a:t>
            </a:r>
          </a:p>
          <a:p>
            <a:pPr marL="171450" indent="-171450">
              <a:buFont typeface="Calibri" panose="020F0502020204030204" pitchFamily="34" charset="0"/>
              <a:buChar char="•"/>
            </a:pPr>
            <a:r>
              <a:rPr lang="en-US" sz="2800" dirty="0">
                <a:solidFill>
                  <a:schemeClr val="tx1"/>
                </a:solidFill>
                <a:latin typeface="+mn-lt"/>
              </a:rPr>
              <a:t>Treatment-seeking rates by gender</a:t>
            </a:r>
          </a:p>
          <a:p>
            <a:pPr marL="171450" indent="-171450">
              <a:buFont typeface="Calibri" panose="020F0502020204030204" pitchFamily="34" charset="0"/>
              <a:buChar char="•"/>
            </a:pPr>
            <a:r>
              <a:rPr lang="en-US" sz="2800" dirty="0">
                <a:solidFill>
                  <a:schemeClr val="tx1"/>
                </a:solidFill>
                <a:latin typeface="+mn-lt"/>
              </a:rPr>
              <a:t>Work interference patterns by age and treatment status</a:t>
            </a:r>
          </a:p>
          <a:p>
            <a:pPr marL="171450" indent="-171450">
              <a:buFont typeface="Calibri" panose="020F0502020204030204" pitchFamily="34" charset="0"/>
              <a:buChar char="•"/>
            </a:pPr>
            <a:r>
              <a:rPr lang="en-US" sz="2800" dirty="0">
                <a:solidFill>
                  <a:schemeClr val="tx1"/>
                </a:solidFill>
                <a:latin typeface="+mn-lt"/>
              </a:rPr>
              <a:t>Impact of mental-health benefits on willingness to seek help</a:t>
            </a:r>
          </a:p>
          <a:p>
            <a:pPr marL="171450" indent="-171450">
              <a:buFont typeface="Calibri" panose="020F0502020204030204" pitchFamily="34" charset="0"/>
              <a:buChar char="•"/>
            </a:pPr>
            <a:r>
              <a:rPr lang="en-US" sz="2800" dirty="0">
                <a:solidFill>
                  <a:schemeClr val="tx1"/>
                </a:solidFill>
                <a:latin typeface="+mn-lt"/>
              </a:rPr>
              <a:t>Relationship between age, company size, and treatment likelihood</a:t>
            </a:r>
          </a:p>
          <a:p>
            <a:pPr marL="171450" indent="-171450">
              <a:buFont typeface="Calibri" panose="020F0502020204030204" pitchFamily="34" charset="0"/>
              <a:buChar char="•"/>
            </a:pPr>
            <a:r>
              <a:rPr lang="en-US" sz="2800" dirty="0">
                <a:solidFill>
                  <a:schemeClr val="tx1"/>
                </a:solidFill>
                <a:latin typeface="+mn-lt"/>
              </a:rPr>
              <a:t>Distribution of treatment across different company sizes</a:t>
            </a:r>
          </a:p>
          <a:p>
            <a:pPr marL="171450" indent="-171450">
              <a:buFont typeface="Calibri" panose="020F0502020204030204" pitchFamily="34" charset="0"/>
              <a:buChar char="•"/>
            </a:pPr>
            <a:endParaRPr lang="en-US" sz="2800" dirty="0">
              <a:solidFill>
                <a:schemeClr val="tx1"/>
              </a:solidFill>
              <a:latin typeface="+mn-lt"/>
            </a:endParaRPr>
          </a:p>
          <a:p>
            <a:r>
              <a:rPr lang="en-US" sz="2800" dirty="0">
                <a:solidFill>
                  <a:schemeClr val="tx1"/>
                </a:solidFill>
                <a:latin typeface="+mn-lt"/>
              </a:rPr>
              <a:t>4- </a:t>
            </a:r>
            <a:r>
              <a:rPr lang="en-US" sz="2800" b="1" dirty="0">
                <a:solidFill>
                  <a:schemeClr val="tx1"/>
                </a:solidFill>
                <a:latin typeface="+mn-lt"/>
              </a:rPr>
              <a:t>Geographical Insights</a:t>
            </a:r>
          </a:p>
          <a:p>
            <a:pPr marL="171450" indent="-171450">
              <a:buFont typeface="Calibri" panose="020F0502020204030204" pitchFamily="34" charset="0"/>
              <a:buChar char="•"/>
            </a:pPr>
            <a:r>
              <a:rPr lang="en-US" sz="2800" dirty="0">
                <a:solidFill>
                  <a:schemeClr val="tx1"/>
                </a:solidFill>
                <a:latin typeface="+mn-lt"/>
              </a:rPr>
              <a:t>Countries reporting the highest mental-health consequences</a:t>
            </a:r>
          </a:p>
          <a:p>
            <a:pPr marL="171450" indent="-171450">
              <a:buFont typeface="Calibri" panose="020F0502020204030204" pitchFamily="34" charset="0"/>
              <a:buChar char="•"/>
            </a:pPr>
            <a:r>
              <a:rPr lang="en-US" sz="2800" dirty="0">
                <a:solidFill>
                  <a:schemeClr val="tx1"/>
                </a:solidFill>
                <a:latin typeface="+mn-lt"/>
              </a:rPr>
              <a:t>International agreement levels on “mental health = physical health”</a:t>
            </a:r>
          </a:p>
          <a:p>
            <a:pPr marL="171450" indent="-171450">
              <a:buFont typeface="Calibri" panose="020F0502020204030204" pitchFamily="34" charset="0"/>
              <a:buChar char="•"/>
            </a:pPr>
            <a:r>
              <a:rPr lang="en-US" sz="2800" dirty="0">
                <a:solidFill>
                  <a:schemeClr val="tx1"/>
                </a:solidFill>
                <a:latin typeface="+mn-lt"/>
              </a:rPr>
              <a:t>Country-level variability in mental-health treatment patterns</a:t>
            </a:r>
          </a:p>
          <a:p>
            <a:endParaRPr lang="en-US" sz="600" dirty="0">
              <a:solidFill>
                <a:schemeClr val="tx1"/>
              </a:solidFill>
              <a:latin typeface="+mn-lt"/>
            </a:endParaRPr>
          </a:p>
        </p:txBody>
      </p:sp>
      <p:sp>
        <p:nvSpPr>
          <p:cNvPr id="27" name="Rectangle 26">
            <a:extLst>
              <a:ext uri="{FF2B5EF4-FFF2-40B4-BE49-F238E27FC236}">
                <a16:creationId xmlns:a16="http://schemas.microsoft.com/office/drawing/2014/main" id="{C609E9FA-BDDE-45C4-8F5E-974D4208D2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9" name="Rectangle 28">
            <a:extLst>
              <a:ext uri="{FF2B5EF4-FFF2-40B4-BE49-F238E27FC236}">
                <a16:creationId xmlns:a16="http://schemas.microsoft.com/office/drawing/2014/main" id="{7737E529-E43B-4948-B3C4-7F6B806FCC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100848161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13FE9996-7EAC-4679-B37D-C1045F42F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9" name="Rectangle 18">
            <a:extLst>
              <a:ext uri="{FF2B5EF4-FFF2-40B4-BE49-F238E27FC236}">
                <a16:creationId xmlns:a16="http://schemas.microsoft.com/office/drawing/2014/main" id="{761DF1FE-5CC8-43D2-A76C-93C76EEDE1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cxnSp>
        <p:nvCxnSpPr>
          <p:cNvPr id="21" name="Straight Connector 20">
            <a:extLst>
              <a:ext uri="{FF2B5EF4-FFF2-40B4-BE49-F238E27FC236}">
                <a16:creationId xmlns:a16="http://schemas.microsoft.com/office/drawing/2014/main" id="{E161BEBD-A23C-409E-ABC7-73F9EDC02F2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23" name="Rectangle 22">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4574EBB4-A7E6-726B-468B-1F7FC59F04D4}"/>
              </a:ext>
            </a:extLst>
          </p:cNvPr>
          <p:cNvSpPr>
            <a:spLocks noGrp="1"/>
          </p:cNvSpPr>
          <p:nvPr>
            <p:ph type="ctrTitle"/>
          </p:nvPr>
        </p:nvSpPr>
        <p:spPr>
          <a:xfrm>
            <a:off x="492370" y="605896"/>
            <a:ext cx="3084844" cy="5646208"/>
          </a:xfrm>
        </p:spPr>
        <p:txBody>
          <a:bodyPr vert="horz" lIns="91440" tIns="45720" rIns="91440" bIns="45720" rtlCol="0" anchor="ctr">
            <a:normAutofit/>
          </a:bodyPr>
          <a:lstStyle/>
          <a:p>
            <a:r>
              <a:rPr lang="en-US" sz="3600">
                <a:solidFill>
                  <a:srgbClr val="FFFFFF"/>
                </a:solidFill>
              </a:rPr>
              <a:t>Overview</a:t>
            </a:r>
          </a:p>
        </p:txBody>
      </p:sp>
      <p:sp>
        <p:nvSpPr>
          <p:cNvPr id="27" name="Rectangle 26">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3" name="Subtitle 2">
            <a:extLst>
              <a:ext uri="{FF2B5EF4-FFF2-40B4-BE49-F238E27FC236}">
                <a16:creationId xmlns:a16="http://schemas.microsoft.com/office/drawing/2014/main" id="{DF33EF03-15BE-65A6-38CE-E3AE9F29E126}"/>
              </a:ext>
            </a:extLst>
          </p:cNvPr>
          <p:cNvSpPr>
            <a:spLocks noGrp="1"/>
          </p:cNvSpPr>
          <p:nvPr>
            <p:ph type="subTitle" idx="1"/>
          </p:nvPr>
        </p:nvSpPr>
        <p:spPr>
          <a:xfrm>
            <a:off x="4278376" y="211015"/>
            <a:ext cx="6877303" cy="6461089"/>
          </a:xfrm>
        </p:spPr>
        <p:txBody>
          <a:bodyPr vert="horz" lIns="0" tIns="45720" rIns="0" bIns="45720" rtlCol="0" anchor="ctr">
            <a:normAutofit lnSpcReduction="10000"/>
          </a:bodyPr>
          <a:lstStyle/>
          <a:p>
            <a:r>
              <a:rPr lang="en-US" sz="1050" dirty="0">
                <a:solidFill>
                  <a:schemeClr val="tx1">
                    <a:lumMod val="75000"/>
                    <a:lumOff val="25000"/>
                  </a:schemeClr>
                </a:solidFill>
                <a:latin typeface="+mn-lt"/>
              </a:rPr>
              <a:t>This presentation provides a comprehensive analysis of mental-health trends among employees across different demographics, workplace environments, and geographical regions. Using survey-based data, it explores how factors such as gender, age, company size, industry type, and access to mental-health benefits influence both mental-health outcomes and treatment-seeking behavior.</a:t>
            </a:r>
          </a:p>
          <a:p>
            <a:r>
              <a:rPr lang="en-US" sz="1050" dirty="0">
                <a:solidFill>
                  <a:schemeClr val="tx1">
                    <a:lumMod val="75000"/>
                    <a:lumOff val="25000"/>
                  </a:schemeClr>
                </a:solidFill>
                <a:latin typeface="+mn-lt"/>
              </a:rPr>
              <a:t>The analysis is organized into four major sections:</a:t>
            </a:r>
          </a:p>
          <a:p>
            <a:r>
              <a:rPr lang="en-US" sz="1050" b="1" dirty="0">
                <a:solidFill>
                  <a:schemeClr val="tx1">
                    <a:lumMod val="75000"/>
                    <a:lumOff val="25000"/>
                  </a:schemeClr>
                </a:solidFill>
                <a:latin typeface="+mn-lt"/>
              </a:rPr>
              <a:t>1. Customer Demographics</a:t>
            </a:r>
          </a:p>
          <a:p>
            <a:r>
              <a:rPr lang="en-US" sz="1050" dirty="0">
                <a:solidFill>
                  <a:schemeClr val="tx1">
                    <a:lumMod val="75000"/>
                    <a:lumOff val="25000"/>
                  </a:schemeClr>
                </a:solidFill>
                <a:latin typeface="+mn-lt"/>
              </a:rPr>
              <a:t>This section examines gender distribution, age patterns, and family history of mental illness among respondents. It highlights the dominance of male respondents in the dataset and shows that females and “other” gender groups report slightly higher mental-health consequences.</a:t>
            </a:r>
          </a:p>
          <a:p>
            <a:r>
              <a:rPr lang="en-US" sz="1050" b="1" dirty="0">
                <a:solidFill>
                  <a:schemeClr val="tx1">
                    <a:lumMod val="75000"/>
                    <a:lumOff val="25000"/>
                  </a:schemeClr>
                </a:solidFill>
                <a:latin typeface="+mn-lt"/>
              </a:rPr>
              <a:t>2. Workplace &amp; Behavioral Patterns</a:t>
            </a:r>
          </a:p>
          <a:p>
            <a:r>
              <a:rPr lang="en-US" sz="1050" dirty="0">
                <a:solidFill>
                  <a:schemeClr val="tx1">
                    <a:lumMod val="75000"/>
                    <a:lumOff val="25000"/>
                  </a:schemeClr>
                </a:solidFill>
                <a:latin typeface="+mn-lt"/>
              </a:rPr>
              <a:t>Here, the focus shifts to organizational factors such as remote vs. non-remote work, anonymity policies, supervisor support, and company size. The findings show that remote workers report more mental-health consequences, anonymity policies encourage taking mental-health leave, and supervisor support significantly increases the likelihood of seeking treatment. Tech companies also outperform non-tech companies in providing mental-health benefits.</a:t>
            </a:r>
          </a:p>
          <a:p>
            <a:r>
              <a:rPr lang="en-US" sz="1050" b="1" dirty="0">
                <a:solidFill>
                  <a:schemeClr val="tx1">
                    <a:lumMod val="75000"/>
                    <a:lumOff val="25000"/>
                  </a:schemeClr>
                </a:solidFill>
                <a:latin typeface="+mn-lt"/>
              </a:rPr>
              <a:t>3. Mental-Health Outcomes &amp; Treatment Patterns</a:t>
            </a:r>
          </a:p>
          <a:p>
            <a:r>
              <a:rPr lang="en-US" sz="1050" dirty="0">
                <a:solidFill>
                  <a:schemeClr val="tx1">
                    <a:lumMod val="75000"/>
                    <a:lumOff val="25000"/>
                  </a:schemeClr>
                </a:solidFill>
                <a:latin typeface="+mn-lt"/>
              </a:rPr>
              <a:t>This section analyzes how age, gender, and workplace factors influence mental-health outcomes. Females and the “other” gender group show higher treatment-seeking rates. Younger employees report more work interference due to mental-health issues, especially those already receiving treatment. Access to mental-health benefits strongly increases willingness to seek help.</a:t>
            </a:r>
          </a:p>
          <a:p>
            <a:r>
              <a:rPr lang="en-US" sz="1050" b="1" dirty="0">
                <a:solidFill>
                  <a:schemeClr val="tx1">
                    <a:lumMod val="75000"/>
                    <a:lumOff val="25000"/>
                  </a:schemeClr>
                </a:solidFill>
                <a:latin typeface="+mn-lt"/>
              </a:rPr>
              <a:t>4. Geographical Insights</a:t>
            </a:r>
          </a:p>
          <a:p>
            <a:r>
              <a:rPr lang="en-US" sz="1050" dirty="0">
                <a:solidFill>
                  <a:schemeClr val="tx1">
                    <a:lumMod val="75000"/>
                    <a:lumOff val="25000"/>
                  </a:schemeClr>
                </a:solidFill>
                <a:latin typeface="+mn-lt"/>
              </a:rPr>
              <a:t>The presentation compares countries across several mental-health indicators. The USA, UK, and Canada show the highest counts of reported mental-health consequences, while countries like Austria, Denmark, Thailand, and Colombia show full agreement that “mental health equals physical health.” Treatment patterns also vary, with medium-sized companies showing the highest treatment rates internationally.</a:t>
            </a:r>
          </a:p>
          <a:p>
            <a:endParaRPr lang="en-US" sz="800" dirty="0">
              <a:solidFill>
                <a:schemeClr val="tx1">
                  <a:lumMod val="75000"/>
                  <a:lumOff val="25000"/>
                </a:schemeClr>
              </a:solidFill>
              <a:latin typeface="+mn-lt"/>
            </a:endParaRPr>
          </a:p>
        </p:txBody>
      </p:sp>
    </p:spTree>
    <p:extLst>
      <p:ext uri="{BB962C8B-B14F-4D97-AF65-F5344CB8AC3E}">
        <p14:creationId xmlns:p14="http://schemas.microsoft.com/office/powerpoint/2010/main" val="12082613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6000"/>
                <a:shade val="99000"/>
                <a:satMod val="140000"/>
              </a:schemeClr>
            </a:gs>
            <a:gs pos="65000">
              <a:schemeClr val="bg1">
                <a:tint val="100000"/>
                <a:shade val="80000"/>
                <a:satMod val="130000"/>
              </a:schemeClr>
            </a:gs>
            <a:gs pos="100000">
              <a:schemeClr val="bg1">
                <a:tint val="100000"/>
                <a:shade val="48000"/>
                <a:satMod val="120000"/>
              </a:schemeClr>
            </a:gs>
          </a:gsLst>
          <a:lin ang="16200000" scaled="0"/>
        </a:gra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5C8D2C1-DA83-420D-9635-D52CE066B5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4" name="Rectangle 23">
            <a:extLst>
              <a:ext uri="{FF2B5EF4-FFF2-40B4-BE49-F238E27FC236}">
                <a16:creationId xmlns:a16="http://schemas.microsoft.com/office/drawing/2014/main" id="{434F74C9-6A0B-409E-AD1C-45B58BE91B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cxnSp>
        <p:nvCxnSpPr>
          <p:cNvPr id="26" name="Straight Connector 25">
            <a:extLst>
              <a:ext uri="{FF2B5EF4-FFF2-40B4-BE49-F238E27FC236}">
                <a16:creationId xmlns:a16="http://schemas.microsoft.com/office/drawing/2014/main" id="{F5486A9D-1265-4B57-91E6-68E666B978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5" name="Picture 4" descr="World map formed by people united">
            <a:extLst>
              <a:ext uri="{FF2B5EF4-FFF2-40B4-BE49-F238E27FC236}">
                <a16:creationId xmlns:a16="http://schemas.microsoft.com/office/drawing/2014/main" id="{9CDE02CA-D884-F53D-7530-4E6D99DCA588}"/>
              </a:ext>
            </a:extLst>
          </p:cNvPr>
          <p:cNvPicPr>
            <a:picLocks noChangeAspect="1"/>
          </p:cNvPicPr>
          <p:nvPr/>
        </p:nvPicPr>
        <p:blipFill>
          <a:blip r:embed="rId2">
            <a:alphaModFix amt="35000"/>
          </a:blip>
          <a:srcRect b="4661"/>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1931B3E4-0DD5-65F0-C1AD-97B71E2CB56F}"/>
              </a:ext>
            </a:extLst>
          </p:cNvPr>
          <p:cNvSpPr>
            <a:spLocks noGrp="1"/>
          </p:cNvSpPr>
          <p:nvPr>
            <p:ph type="title"/>
          </p:nvPr>
        </p:nvSpPr>
        <p:spPr>
          <a:xfrm>
            <a:off x="1097280" y="758952"/>
            <a:ext cx="10058400" cy="3566160"/>
          </a:xfrm>
        </p:spPr>
        <p:txBody>
          <a:bodyPr vert="horz" lIns="91440" tIns="45720" rIns="91440" bIns="45720" rtlCol="0" anchor="b">
            <a:normAutofit/>
          </a:bodyPr>
          <a:lstStyle/>
          <a:p>
            <a:r>
              <a:rPr lang="en-US" sz="8000">
                <a:solidFill>
                  <a:srgbClr val="FFFFFF"/>
                </a:solidFill>
              </a:rPr>
              <a:t>Customer Demographics</a:t>
            </a:r>
          </a:p>
        </p:txBody>
      </p:sp>
      <p:cxnSp>
        <p:nvCxnSpPr>
          <p:cNvPr id="28" name="Straight Connector 27">
            <a:extLst>
              <a:ext uri="{FF2B5EF4-FFF2-40B4-BE49-F238E27FC236}">
                <a16:creationId xmlns:a16="http://schemas.microsoft.com/office/drawing/2014/main" id="{4071767D-5FF7-4508-B8B7-BB60FF3AB2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C4E89C94-E462-4566-A15A-32835FD68B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32" name="Rectangle 31">
            <a:extLst>
              <a:ext uri="{FF2B5EF4-FFF2-40B4-BE49-F238E27FC236}">
                <a16:creationId xmlns:a16="http://schemas.microsoft.com/office/drawing/2014/main" id="{E25F4A20-71FB-4A26-92E2-89DED49264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27612949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3B664-6283-3AD2-6F5F-5B37B1AA43F9}"/>
              </a:ext>
            </a:extLst>
          </p:cNvPr>
          <p:cNvSpPr>
            <a:spLocks noGrp="1"/>
          </p:cNvSpPr>
          <p:nvPr>
            <p:ph type="title"/>
          </p:nvPr>
        </p:nvSpPr>
        <p:spPr/>
        <p:txBody>
          <a:bodyPr/>
          <a:lstStyle/>
          <a:p>
            <a:r>
              <a:rPr lang="en-GB" dirty="0"/>
              <a:t>What is the overall gender distribution of survey respondents?</a:t>
            </a:r>
          </a:p>
        </p:txBody>
      </p:sp>
      <p:pic>
        <p:nvPicPr>
          <p:cNvPr id="55" name="Content Placeholder 54" descr="A blue circle with a pink triangle and green triangle with text&#10;&#10;AI-generated content may be incorrect.">
            <a:extLst>
              <a:ext uri="{FF2B5EF4-FFF2-40B4-BE49-F238E27FC236}">
                <a16:creationId xmlns:a16="http://schemas.microsoft.com/office/drawing/2014/main" id="{1F71026F-5FF4-DD81-4238-7B57F28C9C8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933891" y="2047230"/>
            <a:ext cx="5338759" cy="4022725"/>
          </a:xfrm>
        </p:spPr>
      </p:pic>
      <p:sp>
        <p:nvSpPr>
          <p:cNvPr id="56" name="TextBox 55">
            <a:extLst>
              <a:ext uri="{FF2B5EF4-FFF2-40B4-BE49-F238E27FC236}">
                <a16:creationId xmlns:a16="http://schemas.microsoft.com/office/drawing/2014/main" id="{D9F4EBDF-01F0-071E-B4DA-DFE8E21B8C72}"/>
              </a:ext>
            </a:extLst>
          </p:cNvPr>
          <p:cNvSpPr txBox="1"/>
          <p:nvPr/>
        </p:nvSpPr>
        <p:spPr>
          <a:xfrm>
            <a:off x="698090" y="3529781"/>
            <a:ext cx="4235801" cy="1200329"/>
          </a:xfrm>
          <a:prstGeom prst="rect">
            <a:avLst/>
          </a:prstGeom>
          <a:noFill/>
        </p:spPr>
        <p:txBody>
          <a:bodyPr wrap="square" rtlCol="0">
            <a:spAutoFit/>
          </a:bodyPr>
          <a:lstStyle/>
          <a:p>
            <a:r>
              <a:rPr lang="en-GB" dirty="0">
                <a:latin typeface="Arial" panose="020B0604020202020204" pitchFamily="34" charset="0"/>
                <a:cs typeface="Arial" panose="020B0604020202020204" pitchFamily="34" charset="0"/>
              </a:rPr>
              <a:t>Most respondents are male, confirming the gender imbalance in the technology industry.</a:t>
            </a:r>
          </a:p>
          <a:p>
            <a:endParaRPr lang="en-GB" dirty="0"/>
          </a:p>
        </p:txBody>
      </p:sp>
    </p:spTree>
    <p:extLst>
      <p:ext uri="{BB962C8B-B14F-4D97-AF65-F5344CB8AC3E}">
        <p14:creationId xmlns:p14="http://schemas.microsoft.com/office/powerpoint/2010/main" val="12689463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with red and blue squares&#10;&#10;AI-generated content may be incorrect.">
            <a:extLst>
              <a:ext uri="{FF2B5EF4-FFF2-40B4-BE49-F238E27FC236}">
                <a16:creationId xmlns:a16="http://schemas.microsoft.com/office/drawing/2014/main" id="{593C8DDE-286B-6D12-8F58-EBEAC56DEB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26394"/>
            <a:ext cx="12192000" cy="4605211"/>
          </a:xfrm>
          <a:prstGeom prst="rect">
            <a:avLst/>
          </a:prstGeom>
        </p:spPr>
      </p:pic>
      <p:sp>
        <p:nvSpPr>
          <p:cNvPr id="4" name="TextBox 3">
            <a:extLst>
              <a:ext uri="{FF2B5EF4-FFF2-40B4-BE49-F238E27FC236}">
                <a16:creationId xmlns:a16="http://schemas.microsoft.com/office/drawing/2014/main" id="{05F75A85-EA4E-B430-E578-CAAD623CE406}"/>
              </a:ext>
            </a:extLst>
          </p:cNvPr>
          <p:cNvSpPr txBox="1"/>
          <p:nvPr/>
        </p:nvSpPr>
        <p:spPr>
          <a:xfrm>
            <a:off x="1160206" y="226142"/>
            <a:ext cx="8288594" cy="523220"/>
          </a:xfrm>
          <a:prstGeom prst="rect">
            <a:avLst/>
          </a:prstGeom>
          <a:noFill/>
        </p:spPr>
        <p:txBody>
          <a:bodyPr wrap="square" rtlCol="0">
            <a:spAutoFit/>
          </a:bodyPr>
          <a:lstStyle/>
          <a:p>
            <a:r>
              <a:rPr lang="en-GB" sz="2800" i="1" dirty="0"/>
              <a:t>What is the Treatment Counts by Gender</a:t>
            </a:r>
            <a:endParaRPr lang="en-GB" sz="2800" dirty="0"/>
          </a:p>
        </p:txBody>
      </p:sp>
      <p:sp>
        <p:nvSpPr>
          <p:cNvPr id="2" name="TextBox 1">
            <a:extLst>
              <a:ext uri="{FF2B5EF4-FFF2-40B4-BE49-F238E27FC236}">
                <a16:creationId xmlns:a16="http://schemas.microsoft.com/office/drawing/2014/main" id="{727730EC-ED1B-C430-F201-72439AB503E4}"/>
              </a:ext>
            </a:extLst>
          </p:cNvPr>
          <p:cNvSpPr txBox="1"/>
          <p:nvPr/>
        </p:nvSpPr>
        <p:spPr>
          <a:xfrm>
            <a:off x="1622322" y="5731605"/>
            <a:ext cx="9124336" cy="369332"/>
          </a:xfrm>
          <a:prstGeom prst="rect">
            <a:avLst/>
          </a:prstGeom>
          <a:noFill/>
        </p:spPr>
        <p:txBody>
          <a:bodyPr wrap="square" rtlCol="0">
            <a:spAutoFit/>
          </a:bodyPr>
          <a:lstStyle/>
          <a:p>
            <a:r>
              <a:rPr lang="en-GB" dirty="0"/>
              <a:t>Women are more proactive in seeking help, while men may under-report or avoid treatment.</a:t>
            </a:r>
          </a:p>
        </p:txBody>
      </p:sp>
    </p:spTree>
    <p:extLst>
      <p:ext uri="{BB962C8B-B14F-4D97-AF65-F5344CB8AC3E}">
        <p14:creationId xmlns:p14="http://schemas.microsoft.com/office/powerpoint/2010/main" val="573430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graph&#10;&#10;AI-generated content may be incorrect.">
            <a:extLst>
              <a:ext uri="{FF2B5EF4-FFF2-40B4-BE49-F238E27FC236}">
                <a16:creationId xmlns:a16="http://schemas.microsoft.com/office/drawing/2014/main" id="{4EE60AAE-70C5-E9DA-6839-C3D4F61AD0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2361" y="552048"/>
            <a:ext cx="9507277" cy="5753903"/>
          </a:xfrm>
          <a:prstGeom prst="rect">
            <a:avLst/>
          </a:prstGeom>
        </p:spPr>
      </p:pic>
      <p:sp>
        <p:nvSpPr>
          <p:cNvPr id="4" name="TextBox 3">
            <a:extLst>
              <a:ext uri="{FF2B5EF4-FFF2-40B4-BE49-F238E27FC236}">
                <a16:creationId xmlns:a16="http://schemas.microsoft.com/office/drawing/2014/main" id="{9EC09899-2538-4E98-4061-9EB7AAFBBB5F}"/>
              </a:ext>
            </a:extLst>
          </p:cNvPr>
          <p:cNvSpPr txBox="1"/>
          <p:nvPr/>
        </p:nvSpPr>
        <p:spPr>
          <a:xfrm>
            <a:off x="806245" y="182716"/>
            <a:ext cx="11257936" cy="369332"/>
          </a:xfrm>
          <a:prstGeom prst="rect">
            <a:avLst/>
          </a:prstGeom>
          <a:noFill/>
        </p:spPr>
        <p:txBody>
          <a:bodyPr wrap="square" rtlCol="0">
            <a:spAutoFit/>
          </a:bodyPr>
          <a:lstStyle/>
          <a:p>
            <a:r>
              <a:rPr lang="en-GB" dirty="0"/>
              <a:t>What is the overall age distribution for each gender group?</a:t>
            </a:r>
          </a:p>
        </p:txBody>
      </p:sp>
      <p:sp>
        <p:nvSpPr>
          <p:cNvPr id="2" name="TextBox 1">
            <a:extLst>
              <a:ext uri="{FF2B5EF4-FFF2-40B4-BE49-F238E27FC236}">
                <a16:creationId xmlns:a16="http://schemas.microsoft.com/office/drawing/2014/main" id="{638DA8CB-F9AD-B578-75B9-ED893A0E14A6}"/>
              </a:ext>
            </a:extLst>
          </p:cNvPr>
          <p:cNvSpPr txBox="1"/>
          <p:nvPr/>
        </p:nvSpPr>
        <p:spPr>
          <a:xfrm>
            <a:off x="8721213" y="3008671"/>
            <a:ext cx="3087329" cy="1477328"/>
          </a:xfrm>
          <a:prstGeom prst="rect">
            <a:avLst/>
          </a:prstGeom>
          <a:noFill/>
        </p:spPr>
        <p:txBody>
          <a:bodyPr wrap="square" rtlCol="0">
            <a:spAutoFit/>
          </a:bodyPr>
          <a:lstStyle/>
          <a:p>
            <a:r>
              <a:rPr lang="en-GB" dirty="0">
                <a:latin typeface="Arial" panose="020B0604020202020204" pitchFamily="34" charset="0"/>
                <a:cs typeface="Arial" panose="020B0604020202020204" pitchFamily="34" charset="0"/>
              </a:rPr>
              <a:t>Most respondents are in their 20s and 30s, and male participants dominate all age groups.</a:t>
            </a:r>
          </a:p>
          <a:p>
            <a:endParaRPr lang="en-GB" dirty="0"/>
          </a:p>
        </p:txBody>
      </p:sp>
    </p:spTree>
    <p:extLst>
      <p:ext uri="{BB962C8B-B14F-4D97-AF65-F5344CB8AC3E}">
        <p14:creationId xmlns:p14="http://schemas.microsoft.com/office/powerpoint/2010/main" val="1015010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of a person's health&#10;&#10;AI-generated content may be incorrect.">
            <a:extLst>
              <a:ext uri="{FF2B5EF4-FFF2-40B4-BE49-F238E27FC236}">
                <a16:creationId xmlns:a16="http://schemas.microsoft.com/office/drawing/2014/main" id="{2A333BE5-762E-B6B3-99B4-52BB805630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1881" y="494890"/>
            <a:ext cx="9450119" cy="5868219"/>
          </a:xfrm>
          <a:prstGeom prst="rect">
            <a:avLst/>
          </a:prstGeom>
        </p:spPr>
      </p:pic>
      <p:sp>
        <p:nvSpPr>
          <p:cNvPr id="4" name="TextBox 3">
            <a:extLst>
              <a:ext uri="{FF2B5EF4-FFF2-40B4-BE49-F238E27FC236}">
                <a16:creationId xmlns:a16="http://schemas.microsoft.com/office/drawing/2014/main" id="{FE3633A3-9733-AB59-4244-771D54EF7585}"/>
              </a:ext>
            </a:extLst>
          </p:cNvPr>
          <p:cNvSpPr txBox="1"/>
          <p:nvPr/>
        </p:nvSpPr>
        <p:spPr>
          <a:xfrm>
            <a:off x="108154" y="353961"/>
            <a:ext cx="11720051" cy="369332"/>
          </a:xfrm>
          <a:prstGeom prst="rect">
            <a:avLst/>
          </a:prstGeom>
          <a:noFill/>
        </p:spPr>
        <p:txBody>
          <a:bodyPr wrap="square" rtlCol="0">
            <a:spAutoFit/>
          </a:bodyPr>
          <a:lstStyle/>
          <a:p>
            <a:r>
              <a:rPr lang="en-GB" b="1" dirty="0"/>
              <a:t>How do reported mental-health consequences differ between male, female, and other respondents?</a:t>
            </a:r>
          </a:p>
        </p:txBody>
      </p:sp>
      <p:sp>
        <p:nvSpPr>
          <p:cNvPr id="6" name="TextBox 5">
            <a:extLst>
              <a:ext uri="{FF2B5EF4-FFF2-40B4-BE49-F238E27FC236}">
                <a16:creationId xmlns:a16="http://schemas.microsoft.com/office/drawing/2014/main" id="{81A99BCC-4760-F3F3-562E-2653694C4916}"/>
              </a:ext>
            </a:extLst>
          </p:cNvPr>
          <p:cNvSpPr txBox="1"/>
          <p:nvPr/>
        </p:nvSpPr>
        <p:spPr>
          <a:xfrm>
            <a:off x="77998" y="2295013"/>
            <a:ext cx="2694039" cy="1754326"/>
          </a:xfrm>
          <a:prstGeom prst="rect">
            <a:avLst/>
          </a:prstGeom>
          <a:noFill/>
        </p:spPr>
        <p:txBody>
          <a:bodyPr wrap="square" rtlCol="0">
            <a:spAutoFit/>
          </a:bodyPr>
          <a:lstStyle/>
          <a:p>
            <a:r>
              <a:rPr lang="en-GB" dirty="0">
                <a:latin typeface="Arial" panose="020B0604020202020204" pitchFamily="34" charset="0"/>
                <a:cs typeface="Arial" panose="020B0604020202020204" pitchFamily="34" charset="0"/>
              </a:rPr>
              <a:t>Female and “other” gender respondents report mental-health consequences slightly more often than males.</a:t>
            </a:r>
          </a:p>
          <a:p>
            <a:endParaRPr lang="en-GB" dirty="0"/>
          </a:p>
        </p:txBody>
      </p:sp>
    </p:spTree>
    <p:extLst>
      <p:ext uri="{BB962C8B-B14F-4D97-AF65-F5344CB8AC3E}">
        <p14:creationId xmlns:p14="http://schemas.microsoft.com/office/powerpoint/2010/main" val="3750679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graph&#10;&#10;AI-generated content may be incorrect.">
            <a:extLst>
              <a:ext uri="{FF2B5EF4-FFF2-40B4-BE49-F238E27FC236}">
                <a16:creationId xmlns:a16="http://schemas.microsoft.com/office/drawing/2014/main" id="{A9FD5E02-2471-5200-B120-9A08BAB52E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7019" y="361195"/>
            <a:ext cx="10297962" cy="5410340"/>
          </a:xfrm>
          <a:prstGeom prst="rect">
            <a:avLst/>
          </a:prstGeom>
        </p:spPr>
      </p:pic>
      <p:sp>
        <p:nvSpPr>
          <p:cNvPr id="4" name="TextBox 3">
            <a:extLst>
              <a:ext uri="{FF2B5EF4-FFF2-40B4-BE49-F238E27FC236}">
                <a16:creationId xmlns:a16="http://schemas.microsoft.com/office/drawing/2014/main" id="{7EAAE50E-1158-3A12-2046-2F0BA4AE6AC1}"/>
              </a:ext>
            </a:extLst>
          </p:cNvPr>
          <p:cNvSpPr txBox="1"/>
          <p:nvPr/>
        </p:nvSpPr>
        <p:spPr>
          <a:xfrm>
            <a:off x="501444" y="157316"/>
            <a:ext cx="12005187" cy="646331"/>
          </a:xfrm>
          <a:prstGeom prst="rect">
            <a:avLst/>
          </a:prstGeom>
          <a:noFill/>
        </p:spPr>
        <p:txBody>
          <a:bodyPr wrap="square" rtlCol="0">
            <a:spAutoFit/>
          </a:bodyPr>
          <a:lstStyle/>
          <a:p>
            <a:r>
              <a:rPr lang="en-GB" i="1" dirty="0"/>
              <a:t>Within each gender group, what proportion of respondents report a family history of mental illness?</a:t>
            </a:r>
            <a:endParaRPr lang="en-GB" dirty="0"/>
          </a:p>
          <a:p>
            <a:endParaRPr lang="en-GB" dirty="0"/>
          </a:p>
        </p:txBody>
      </p:sp>
      <p:sp>
        <p:nvSpPr>
          <p:cNvPr id="2" name="TextBox 1">
            <a:extLst>
              <a:ext uri="{FF2B5EF4-FFF2-40B4-BE49-F238E27FC236}">
                <a16:creationId xmlns:a16="http://schemas.microsoft.com/office/drawing/2014/main" id="{4288F642-941A-6B6B-AEED-814249B37F11}"/>
              </a:ext>
            </a:extLst>
          </p:cNvPr>
          <p:cNvSpPr txBox="1"/>
          <p:nvPr/>
        </p:nvSpPr>
        <p:spPr>
          <a:xfrm>
            <a:off x="803122" y="5592688"/>
            <a:ext cx="10441859" cy="1107996"/>
          </a:xfrm>
          <a:prstGeom prst="rect">
            <a:avLst/>
          </a:prstGeom>
          <a:noFill/>
        </p:spPr>
        <p:txBody>
          <a:bodyPr wrap="square" rtlCol="0">
            <a:spAutoFit/>
          </a:bodyPr>
          <a:lstStyle/>
          <a:p>
            <a:r>
              <a:rPr lang="en-GB" sz="1600" dirty="0">
                <a:latin typeface="Arial" panose="020B0604020202020204" pitchFamily="34" charset="0"/>
                <a:cs typeface="Arial" panose="020B0604020202020204" pitchFamily="34" charset="0"/>
              </a:rPr>
              <a:t>Males show the highest count of reported family history of mental illness.</a:t>
            </a:r>
            <a:br>
              <a:rPr lang="en-GB" sz="1600" dirty="0">
                <a:latin typeface="Arial" panose="020B0604020202020204" pitchFamily="34" charset="0"/>
                <a:cs typeface="Arial" panose="020B0604020202020204" pitchFamily="34" charset="0"/>
              </a:rPr>
            </a:br>
            <a:r>
              <a:rPr lang="en-GB" sz="1600" dirty="0">
                <a:latin typeface="Arial" panose="020B0604020202020204" pitchFamily="34" charset="0"/>
                <a:cs typeface="Arial" panose="020B0604020202020204" pitchFamily="34" charset="0"/>
              </a:rPr>
              <a:t>However, this is primarily driven by their larger representation in the dataset, not necessarily a higher proportion.</a:t>
            </a:r>
            <a:br>
              <a:rPr lang="en-GB" sz="1600" dirty="0">
                <a:latin typeface="Arial" panose="020B0604020202020204" pitchFamily="34" charset="0"/>
                <a:cs typeface="Arial" panose="020B0604020202020204" pitchFamily="34" charset="0"/>
              </a:rPr>
            </a:br>
            <a:r>
              <a:rPr lang="en-GB" sz="1600" dirty="0">
                <a:latin typeface="Arial" panose="020B0604020202020204" pitchFamily="34" charset="0"/>
                <a:cs typeface="Arial" panose="020B0604020202020204" pitchFamily="34" charset="0"/>
              </a:rPr>
              <a:t>Females show lower counts, consistent with their smaller sample size.</a:t>
            </a:r>
          </a:p>
          <a:p>
            <a:endParaRPr lang="en-GB" dirty="0"/>
          </a:p>
        </p:txBody>
      </p:sp>
    </p:spTree>
    <p:extLst>
      <p:ext uri="{BB962C8B-B14F-4D97-AF65-F5344CB8AC3E}">
        <p14:creationId xmlns:p14="http://schemas.microsoft.com/office/powerpoint/2010/main" val="10570144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8" name="Rectangle 57">
            <a:extLst>
              <a:ext uri="{FF2B5EF4-FFF2-40B4-BE49-F238E27FC236}">
                <a16:creationId xmlns:a16="http://schemas.microsoft.com/office/drawing/2014/main" id="{25C8D2C1-DA83-420D-9635-D52CE066B5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59" name="Rectangle 58">
            <a:extLst>
              <a:ext uri="{FF2B5EF4-FFF2-40B4-BE49-F238E27FC236}">
                <a16:creationId xmlns:a16="http://schemas.microsoft.com/office/drawing/2014/main" id="{434F74C9-6A0B-409E-AD1C-45B58BE91B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cxnSp>
        <p:nvCxnSpPr>
          <p:cNvPr id="60" name="Straight Connector 59">
            <a:extLst>
              <a:ext uri="{FF2B5EF4-FFF2-40B4-BE49-F238E27FC236}">
                <a16:creationId xmlns:a16="http://schemas.microsoft.com/office/drawing/2014/main" id="{F5486A9D-1265-4B57-91E6-68E666B978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90AA6468-80AC-4DDF-9CFB-C7A9507E2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6" y="0"/>
            <a:ext cx="458473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4" name="Title 3">
            <a:extLst>
              <a:ext uri="{FF2B5EF4-FFF2-40B4-BE49-F238E27FC236}">
                <a16:creationId xmlns:a16="http://schemas.microsoft.com/office/drawing/2014/main" id="{310AADAD-C765-169B-8A25-31EFE5AD021F}"/>
              </a:ext>
            </a:extLst>
          </p:cNvPr>
          <p:cNvSpPr txBox="1">
            <a:spLocks noGrp="1"/>
          </p:cNvSpPr>
          <p:nvPr>
            <p:ph type="title"/>
          </p:nvPr>
        </p:nvSpPr>
        <p:spPr>
          <a:xfrm>
            <a:off x="457200" y="640080"/>
            <a:ext cx="3659246" cy="2926080"/>
          </a:xfrm>
          <a:prstGeom prst="rect">
            <a:avLst/>
          </a:prstGeom>
        </p:spPr>
        <p:txBody>
          <a:bodyPr vert="horz" lIns="91440" tIns="45720" rIns="91440" bIns="45720" rtlCol="0" anchor="b">
            <a:normAutofit/>
          </a:bodyPr>
          <a:lstStyle/>
          <a:p>
            <a:r>
              <a:rPr lang="en-US" sz="4400">
                <a:solidFill>
                  <a:srgbClr val="FFFFFF"/>
                </a:solidFill>
              </a:rPr>
              <a:t>Workplace &amp; Behavioral Patterns</a:t>
            </a:r>
          </a:p>
        </p:txBody>
      </p:sp>
      <p:sp>
        <p:nvSpPr>
          <p:cNvPr id="3" name="Text Placeholder 2">
            <a:extLst>
              <a:ext uri="{FF2B5EF4-FFF2-40B4-BE49-F238E27FC236}">
                <a16:creationId xmlns:a16="http://schemas.microsoft.com/office/drawing/2014/main" id="{79EFD6CF-1F41-CEC1-8B8D-57496306F776}"/>
              </a:ext>
            </a:extLst>
          </p:cNvPr>
          <p:cNvSpPr>
            <a:spLocks noGrp="1"/>
          </p:cNvSpPr>
          <p:nvPr>
            <p:ph type="body" idx="1"/>
          </p:nvPr>
        </p:nvSpPr>
        <p:spPr>
          <a:xfrm>
            <a:off x="457200" y="3578087"/>
            <a:ext cx="3659246" cy="1554480"/>
          </a:xfrm>
        </p:spPr>
        <p:txBody>
          <a:bodyPr vert="horz" lIns="91440" tIns="45720" rIns="91440" bIns="45720" rtlCol="0">
            <a:normAutofit/>
          </a:bodyPr>
          <a:lstStyle/>
          <a:p>
            <a:endParaRPr lang="en-US" sz="1500">
              <a:solidFill>
                <a:srgbClr val="FFFFFF"/>
              </a:solidFill>
            </a:endParaRPr>
          </a:p>
        </p:txBody>
      </p:sp>
      <p:pic>
        <p:nvPicPr>
          <p:cNvPr id="24" name="Picture 23" descr="Different science and technology icons on a green background">
            <a:extLst>
              <a:ext uri="{FF2B5EF4-FFF2-40B4-BE49-F238E27FC236}">
                <a16:creationId xmlns:a16="http://schemas.microsoft.com/office/drawing/2014/main" id="{8938C075-E3BA-726B-919F-7510EFCF6703}"/>
              </a:ext>
            </a:extLst>
          </p:cNvPr>
          <p:cNvPicPr>
            <a:picLocks noChangeAspect="1"/>
          </p:cNvPicPr>
          <p:nvPr/>
        </p:nvPicPr>
        <p:blipFill>
          <a:blip r:embed="rId2"/>
          <a:srcRect l="13989" r="3418"/>
          <a:stretch>
            <a:fillRect/>
          </a:stretch>
        </p:blipFill>
        <p:spPr>
          <a:xfrm>
            <a:off x="4639733" y="10"/>
            <a:ext cx="7552266" cy="6857990"/>
          </a:xfrm>
          <a:prstGeom prst="rect">
            <a:avLst/>
          </a:prstGeom>
        </p:spPr>
      </p:pic>
      <p:sp>
        <p:nvSpPr>
          <p:cNvPr id="62" name="Rectangle 61">
            <a:extLst>
              <a:ext uri="{FF2B5EF4-FFF2-40B4-BE49-F238E27FC236}">
                <a16:creationId xmlns:a16="http://schemas.microsoft.com/office/drawing/2014/main" id="{4AB900CC-5074-4746-A1A4-AF640455B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475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10540878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and green squares&#10;&#10;AI-generated content may be incorrect.">
            <a:extLst>
              <a:ext uri="{FF2B5EF4-FFF2-40B4-BE49-F238E27FC236}">
                <a16:creationId xmlns:a16="http://schemas.microsoft.com/office/drawing/2014/main" id="{43D95BD2-CE7D-698A-043B-DA516AD0BB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76445"/>
            <a:ext cx="12192000" cy="4505110"/>
          </a:xfrm>
          <a:prstGeom prst="rect">
            <a:avLst/>
          </a:prstGeom>
        </p:spPr>
      </p:pic>
      <p:sp>
        <p:nvSpPr>
          <p:cNvPr id="4" name="TextBox 3">
            <a:extLst>
              <a:ext uri="{FF2B5EF4-FFF2-40B4-BE49-F238E27FC236}">
                <a16:creationId xmlns:a16="http://schemas.microsoft.com/office/drawing/2014/main" id="{B893C6A0-A4AF-74EF-E782-3328C525E8C2}"/>
              </a:ext>
            </a:extLst>
          </p:cNvPr>
          <p:cNvSpPr txBox="1"/>
          <p:nvPr/>
        </p:nvSpPr>
        <p:spPr>
          <a:xfrm>
            <a:off x="245806" y="69105"/>
            <a:ext cx="12034684" cy="738664"/>
          </a:xfrm>
          <a:prstGeom prst="rect">
            <a:avLst/>
          </a:prstGeom>
          <a:noFill/>
        </p:spPr>
        <p:txBody>
          <a:bodyPr wrap="square" rtlCol="0">
            <a:spAutoFit/>
          </a:bodyPr>
          <a:lstStyle/>
          <a:p>
            <a:r>
              <a:rPr lang="en-GB" sz="2400" dirty="0">
                <a:latin typeface="Arial" panose="020B0604020202020204" pitchFamily="34" charset="0"/>
                <a:cs typeface="Arial" panose="020B0604020202020204" pitchFamily="34" charset="0"/>
              </a:rPr>
              <a:t>Are remote workers more or less likely to report mental-health consequences </a:t>
            </a:r>
            <a:r>
              <a:rPr lang="en-GB" sz="2400" b="1" dirty="0">
                <a:latin typeface="Arial" panose="020B0604020202020204" pitchFamily="34" charset="0"/>
                <a:cs typeface="Arial" panose="020B0604020202020204" pitchFamily="34" charset="0"/>
              </a:rPr>
              <a:t>?</a:t>
            </a:r>
          </a:p>
          <a:p>
            <a:endParaRPr lang="en-GB" dirty="0"/>
          </a:p>
        </p:txBody>
      </p:sp>
      <p:sp>
        <p:nvSpPr>
          <p:cNvPr id="5" name="TextBox 4">
            <a:extLst>
              <a:ext uri="{FF2B5EF4-FFF2-40B4-BE49-F238E27FC236}">
                <a16:creationId xmlns:a16="http://schemas.microsoft.com/office/drawing/2014/main" id="{C37A1B69-39FA-8318-120E-0721350FC2C1}"/>
              </a:ext>
            </a:extLst>
          </p:cNvPr>
          <p:cNvSpPr txBox="1"/>
          <p:nvPr/>
        </p:nvSpPr>
        <p:spPr>
          <a:xfrm>
            <a:off x="1204451" y="5491661"/>
            <a:ext cx="10294375" cy="369332"/>
          </a:xfrm>
          <a:prstGeom prst="rect">
            <a:avLst/>
          </a:prstGeom>
          <a:noFill/>
        </p:spPr>
        <p:txBody>
          <a:bodyPr wrap="square" rtlCol="0">
            <a:spAutoFit/>
          </a:bodyPr>
          <a:lstStyle/>
          <a:p>
            <a:r>
              <a:rPr lang="en-GB" dirty="0"/>
              <a:t>Approximately 38.5% of remote workers report mental-health consequences</a:t>
            </a:r>
            <a:r>
              <a:rPr lang="en-GB" b="1" dirty="0"/>
              <a:t>.</a:t>
            </a:r>
          </a:p>
        </p:txBody>
      </p:sp>
      <p:sp>
        <p:nvSpPr>
          <p:cNvPr id="7" name="Rectangle 6">
            <a:extLst>
              <a:ext uri="{FF2B5EF4-FFF2-40B4-BE49-F238E27FC236}">
                <a16:creationId xmlns:a16="http://schemas.microsoft.com/office/drawing/2014/main" id="{7E332053-8A5B-3AF6-95E1-0B75D4D7D644}"/>
              </a:ext>
            </a:extLst>
          </p:cNvPr>
          <p:cNvSpPr/>
          <p:nvPr/>
        </p:nvSpPr>
        <p:spPr>
          <a:xfrm>
            <a:off x="10255046" y="2235279"/>
            <a:ext cx="137652" cy="98323"/>
          </a:xfrm>
          <a:prstGeom prst="rect">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426803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and yellow squares&#10;&#10;AI-generated content may be incorrect.">
            <a:extLst>
              <a:ext uri="{FF2B5EF4-FFF2-40B4-BE49-F238E27FC236}">
                <a16:creationId xmlns:a16="http://schemas.microsoft.com/office/drawing/2014/main" id="{73DA2014-A0C8-67B6-097A-405D97268C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917" y="167148"/>
            <a:ext cx="11507806" cy="6115042"/>
          </a:xfrm>
          <a:prstGeom prst="rect">
            <a:avLst/>
          </a:prstGeom>
        </p:spPr>
      </p:pic>
      <p:sp>
        <p:nvSpPr>
          <p:cNvPr id="4" name="TextBox 3">
            <a:extLst>
              <a:ext uri="{FF2B5EF4-FFF2-40B4-BE49-F238E27FC236}">
                <a16:creationId xmlns:a16="http://schemas.microsoft.com/office/drawing/2014/main" id="{AB9685AC-13F5-5C94-62FB-6E9E35FA060B}"/>
              </a:ext>
            </a:extLst>
          </p:cNvPr>
          <p:cNvSpPr txBox="1"/>
          <p:nvPr/>
        </p:nvSpPr>
        <p:spPr>
          <a:xfrm>
            <a:off x="1543665" y="21812"/>
            <a:ext cx="10137058" cy="369332"/>
          </a:xfrm>
          <a:prstGeom prst="rect">
            <a:avLst/>
          </a:prstGeom>
          <a:noFill/>
        </p:spPr>
        <p:txBody>
          <a:bodyPr wrap="square" rtlCol="0">
            <a:spAutoFit/>
          </a:bodyPr>
          <a:lstStyle/>
          <a:p>
            <a:r>
              <a:rPr lang="en-GB" dirty="0"/>
              <a:t>Does having an anonymity policy make employees feel more comfortable taking mental-health leave?</a:t>
            </a:r>
          </a:p>
        </p:txBody>
      </p:sp>
      <p:sp>
        <p:nvSpPr>
          <p:cNvPr id="5" name="TextBox 4">
            <a:extLst>
              <a:ext uri="{FF2B5EF4-FFF2-40B4-BE49-F238E27FC236}">
                <a16:creationId xmlns:a16="http://schemas.microsoft.com/office/drawing/2014/main" id="{FC860914-EB75-72A9-D932-FA8F1D5B680A}"/>
              </a:ext>
            </a:extLst>
          </p:cNvPr>
          <p:cNvSpPr txBox="1"/>
          <p:nvPr/>
        </p:nvSpPr>
        <p:spPr>
          <a:xfrm>
            <a:off x="1030355" y="5941732"/>
            <a:ext cx="9416419" cy="369332"/>
          </a:xfrm>
          <a:prstGeom prst="rect">
            <a:avLst/>
          </a:prstGeom>
          <a:noFill/>
        </p:spPr>
        <p:txBody>
          <a:bodyPr wrap="square" rtlCol="0">
            <a:spAutoFit/>
          </a:bodyPr>
          <a:lstStyle/>
          <a:p>
            <a:r>
              <a:rPr lang="en-GB" dirty="0">
                <a:latin typeface="Arial" panose="020B0604020202020204" pitchFamily="34" charset="0"/>
                <a:cs typeface="Arial" panose="020B0604020202020204" pitchFamily="34" charset="0"/>
              </a:rPr>
              <a:t>Companies with an anonymity policy report greater ease in taking mental-health leave.</a:t>
            </a:r>
          </a:p>
        </p:txBody>
      </p:sp>
    </p:spTree>
    <p:extLst>
      <p:ext uri="{BB962C8B-B14F-4D97-AF65-F5344CB8AC3E}">
        <p14:creationId xmlns:p14="http://schemas.microsoft.com/office/powerpoint/2010/main" val="17631444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of support and treatment&#10;&#10;AI-generated content may be incorrect.">
            <a:extLst>
              <a:ext uri="{FF2B5EF4-FFF2-40B4-BE49-F238E27FC236}">
                <a16:creationId xmlns:a16="http://schemas.microsoft.com/office/drawing/2014/main" id="{2851F921-22FF-0BF2-95AF-3FB3D99DBD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466" y="523469"/>
            <a:ext cx="10517068" cy="5811061"/>
          </a:xfrm>
          <a:prstGeom prst="rect">
            <a:avLst/>
          </a:prstGeom>
        </p:spPr>
      </p:pic>
      <p:sp>
        <p:nvSpPr>
          <p:cNvPr id="5" name="TextBox 4">
            <a:extLst>
              <a:ext uri="{FF2B5EF4-FFF2-40B4-BE49-F238E27FC236}">
                <a16:creationId xmlns:a16="http://schemas.microsoft.com/office/drawing/2014/main" id="{0243337A-34F2-D1BC-E9D0-EF00E0662636}"/>
              </a:ext>
            </a:extLst>
          </p:cNvPr>
          <p:cNvSpPr txBox="1"/>
          <p:nvPr/>
        </p:nvSpPr>
        <p:spPr>
          <a:xfrm>
            <a:off x="1406012" y="186813"/>
            <a:ext cx="11395587" cy="646331"/>
          </a:xfrm>
          <a:prstGeom prst="rect">
            <a:avLst/>
          </a:prstGeom>
          <a:noFill/>
        </p:spPr>
        <p:txBody>
          <a:bodyPr wrap="square" rtlCol="0">
            <a:spAutoFit/>
          </a:bodyPr>
          <a:lstStyle/>
          <a:p>
            <a:r>
              <a:rPr lang="en-GB" i="1" dirty="0"/>
              <a:t>Does feeling supported by a supervisor influence whether respondents seek mental-health treatment?</a:t>
            </a:r>
            <a:endParaRPr lang="en-GB" dirty="0"/>
          </a:p>
          <a:p>
            <a:endParaRPr lang="en-GB" dirty="0"/>
          </a:p>
        </p:txBody>
      </p:sp>
      <p:sp>
        <p:nvSpPr>
          <p:cNvPr id="2" name="TextBox 1">
            <a:extLst>
              <a:ext uri="{FF2B5EF4-FFF2-40B4-BE49-F238E27FC236}">
                <a16:creationId xmlns:a16="http://schemas.microsoft.com/office/drawing/2014/main" id="{8584FF55-49BB-4EF1-3632-C523417A6694}"/>
              </a:ext>
            </a:extLst>
          </p:cNvPr>
          <p:cNvSpPr txBox="1"/>
          <p:nvPr/>
        </p:nvSpPr>
        <p:spPr>
          <a:xfrm>
            <a:off x="698090" y="5938684"/>
            <a:ext cx="9969909" cy="646331"/>
          </a:xfrm>
          <a:prstGeom prst="rect">
            <a:avLst/>
          </a:prstGeom>
          <a:noFill/>
        </p:spPr>
        <p:txBody>
          <a:bodyPr wrap="square" rtlCol="0">
            <a:spAutoFit/>
          </a:bodyPr>
          <a:lstStyle/>
          <a:p>
            <a:r>
              <a:rPr lang="en-GB" dirty="0"/>
              <a:t>Employees who report low supervisor support show significantly higher treatment-seeking </a:t>
            </a:r>
            <a:r>
              <a:rPr lang="en-GB" dirty="0" err="1"/>
              <a:t>behavior</a:t>
            </a:r>
            <a:r>
              <a:rPr lang="en-GB" dirty="0"/>
              <a:t> compared to those who feel supported.</a:t>
            </a:r>
          </a:p>
        </p:txBody>
      </p:sp>
    </p:spTree>
    <p:extLst>
      <p:ext uri="{BB962C8B-B14F-4D97-AF65-F5344CB8AC3E}">
        <p14:creationId xmlns:p14="http://schemas.microsoft.com/office/powerpoint/2010/main" val="23098223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e chart with text&#10;&#10;AI-generated content may be incorrect.">
            <a:extLst>
              <a:ext uri="{FF2B5EF4-FFF2-40B4-BE49-F238E27FC236}">
                <a16:creationId xmlns:a16="http://schemas.microsoft.com/office/drawing/2014/main" id="{1F927CC7-C12B-6F3B-5A9A-4689860243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2152" y="609206"/>
            <a:ext cx="7487695" cy="5639587"/>
          </a:xfrm>
          <a:prstGeom prst="rect">
            <a:avLst/>
          </a:prstGeom>
        </p:spPr>
      </p:pic>
      <p:sp>
        <p:nvSpPr>
          <p:cNvPr id="4" name="TextBox 3">
            <a:extLst>
              <a:ext uri="{FF2B5EF4-FFF2-40B4-BE49-F238E27FC236}">
                <a16:creationId xmlns:a16="http://schemas.microsoft.com/office/drawing/2014/main" id="{65B8B643-EFB9-347A-0DDD-6025415DD0B6}"/>
              </a:ext>
            </a:extLst>
          </p:cNvPr>
          <p:cNvSpPr txBox="1"/>
          <p:nvPr/>
        </p:nvSpPr>
        <p:spPr>
          <a:xfrm>
            <a:off x="1297857" y="229648"/>
            <a:ext cx="9153833" cy="369332"/>
          </a:xfrm>
          <a:prstGeom prst="rect">
            <a:avLst/>
          </a:prstGeom>
          <a:noFill/>
        </p:spPr>
        <p:txBody>
          <a:bodyPr wrap="square" rtlCol="0">
            <a:spAutoFit/>
          </a:bodyPr>
          <a:lstStyle/>
          <a:p>
            <a:r>
              <a:rPr lang="en-GB" dirty="0"/>
              <a:t>What percentage of respondents have access to mental-health benefits at their workplace?</a:t>
            </a:r>
          </a:p>
        </p:txBody>
      </p:sp>
      <p:sp>
        <p:nvSpPr>
          <p:cNvPr id="5" name="TextBox 4">
            <a:extLst>
              <a:ext uri="{FF2B5EF4-FFF2-40B4-BE49-F238E27FC236}">
                <a16:creationId xmlns:a16="http://schemas.microsoft.com/office/drawing/2014/main" id="{ACAD806E-C2BB-A131-78EB-261721376A09}"/>
              </a:ext>
            </a:extLst>
          </p:cNvPr>
          <p:cNvSpPr txBox="1"/>
          <p:nvPr/>
        </p:nvSpPr>
        <p:spPr>
          <a:xfrm>
            <a:off x="501444" y="6046839"/>
            <a:ext cx="11690555" cy="369332"/>
          </a:xfrm>
          <a:prstGeom prst="rect">
            <a:avLst/>
          </a:prstGeom>
          <a:noFill/>
        </p:spPr>
        <p:txBody>
          <a:bodyPr wrap="square" rtlCol="0">
            <a:spAutoFit/>
          </a:bodyPr>
          <a:lstStyle/>
          <a:p>
            <a:r>
              <a:rPr lang="en-GB" dirty="0">
                <a:latin typeface="Arial" panose="020B0604020202020204" pitchFamily="34" charset="0"/>
                <a:cs typeface="Arial" panose="020B0604020202020204" pitchFamily="34" charset="0"/>
              </a:rPr>
              <a:t>Most respondents have access to mental-health benefits, but a significant minority still lack such support.</a:t>
            </a:r>
          </a:p>
        </p:txBody>
      </p:sp>
    </p:spTree>
    <p:extLst>
      <p:ext uri="{BB962C8B-B14F-4D97-AF65-F5344CB8AC3E}">
        <p14:creationId xmlns:p14="http://schemas.microsoft.com/office/powerpoint/2010/main" val="31777432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and red rectangle&#10;&#10;AI-generated content may be incorrect.">
            <a:extLst>
              <a:ext uri="{FF2B5EF4-FFF2-40B4-BE49-F238E27FC236}">
                <a16:creationId xmlns:a16="http://schemas.microsoft.com/office/drawing/2014/main" id="{51124B6F-79E8-1A69-9A77-75A520A283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9440" y="775917"/>
            <a:ext cx="9993120" cy="5306165"/>
          </a:xfrm>
          <a:prstGeom prst="rect">
            <a:avLst/>
          </a:prstGeom>
        </p:spPr>
      </p:pic>
      <p:sp>
        <p:nvSpPr>
          <p:cNvPr id="4" name="TextBox 3">
            <a:extLst>
              <a:ext uri="{FF2B5EF4-FFF2-40B4-BE49-F238E27FC236}">
                <a16:creationId xmlns:a16="http://schemas.microsoft.com/office/drawing/2014/main" id="{FD3EE8D9-C9BD-24A4-6028-C1B35D13FB36}"/>
              </a:ext>
            </a:extLst>
          </p:cNvPr>
          <p:cNvSpPr txBox="1"/>
          <p:nvPr/>
        </p:nvSpPr>
        <p:spPr>
          <a:xfrm>
            <a:off x="1012722" y="129586"/>
            <a:ext cx="10540181" cy="646331"/>
          </a:xfrm>
          <a:prstGeom prst="rect">
            <a:avLst/>
          </a:prstGeom>
          <a:noFill/>
        </p:spPr>
        <p:txBody>
          <a:bodyPr wrap="square" rtlCol="0">
            <a:spAutoFit/>
          </a:bodyPr>
          <a:lstStyle/>
          <a:p>
            <a:r>
              <a:rPr lang="en-GB" i="1" dirty="0"/>
              <a:t>Do tech-company employees receive mental-health benefits?</a:t>
            </a:r>
            <a:endParaRPr lang="en-GB" dirty="0"/>
          </a:p>
          <a:p>
            <a:endParaRPr lang="en-GB" dirty="0"/>
          </a:p>
        </p:txBody>
      </p:sp>
      <p:sp>
        <p:nvSpPr>
          <p:cNvPr id="2" name="TextBox 1">
            <a:extLst>
              <a:ext uri="{FF2B5EF4-FFF2-40B4-BE49-F238E27FC236}">
                <a16:creationId xmlns:a16="http://schemas.microsoft.com/office/drawing/2014/main" id="{BFA08641-E4FB-D0AA-BD2E-53B6277D71F1}"/>
              </a:ext>
            </a:extLst>
          </p:cNvPr>
          <p:cNvSpPr txBox="1"/>
          <p:nvPr/>
        </p:nvSpPr>
        <p:spPr>
          <a:xfrm>
            <a:off x="314633" y="5897416"/>
            <a:ext cx="10353367" cy="369332"/>
          </a:xfrm>
          <a:prstGeom prst="rect">
            <a:avLst/>
          </a:prstGeom>
          <a:noFill/>
        </p:spPr>
        <p:txBody>
          <a:bodyPr wrap="square" rtlCol="0">
            <a:spAutoFit/>
          </a:bodyPr>
          <a:lstStyle/>
          <a:p>
            <a:r>
              <a:rPr lang="en-GB" dirty="0"/>
              <a:t>Tech-company employees show a high level of access to mental-health benefits.</a:t>
            </a:r>
            <a:r>
              <a:rPr lang="en-GB"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9395393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of a company size&#10;&#10;AI-generated content may be incorrect.">
            <a:extLst>
              <a:ext uri="{FF2B5EF4-FFF2-40B4-BE49-F238E27FC236}">
                <a16:creationId xmlns:a16="http://schemas.microsoft.com/office/drawing/2014/main" id="{6D76A453-992F-3198-703B-E64C0CBE3C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1255" y="404390"/>
            <a:ext cx="10669489" cy="5799765"/>
          </a:xfrm>
          <a:prstGeom prst="rect">
            <a:avLst/>
          </a:prstGeom>
        </p:spPr>
      </p:pic>
      <p:sp>
        <p:nvSpPr>
          <p:cNvPr id="4" name="TextBox 3">
            <a:extLst>
              <a:ext uri="{FF2B5EF4-FFF2-40B4-BE49-F238E27FC236}">
                <a16:creationId xmlns:a16="http://schemas.microsoft.com/office/drawing/2014/main" id="{111F0CCE-3159-2DD9-AD0F-ADC1A15D5846}"/>
              </a:ext>
            </a:extLst>
          </p:cNvPr>
          <p:cNvSpPr txBox="1"/>
          <p:nvPr/>
        </p:nvSpPr>
        <p:spPr>
          <a:xfrm>
            <a:off x="176981" y="81224"/>
            <a:ext cx="9507793" cy="369332"/>
          </a:xfrm>
          <a:prstGeom prst="rect">
            <a:avLst/>
          </a:prstGeom>
          <a:noFill/>
        </p:spPr>
        <p:txBody>
          <a:bodyPr wrap="square" rtlCol="0">
            <a:spAutoFit/>
          </a:bodyPr>
          <a:lstStyle/>
          <a:p>
            <a:r>
              <a:rPr lang="en-GB" i="1" dirty="0"/>
              <a:t>What percentage of employees within each company size have sought mental-health treatment?</a:t>
            </a:r>
            <a:endParaRPr lang="en-GB" dirty="0"/>
          </a:p>
        </p:txBody>
      </p:sp>
      <p:sp>
        <p:nvSpPr>
          <p:cNvPr id="5" name="TextBox 4">
            <a:extLst>
              <a:ext uri="{FF2B5EF4-FFF2-40B4-BE49-F238E27FC236}">
                <a16:creationId xmlns:a16="http://schemas.microsoft.com/office/drawing/2014/main" id="{869D04C4-2933-3A64-8EB9-B6AAB37A7474}"/>
              </a:ext>
            </a:extLst>
          </p:cNvPr>
          <p:cNvSpPr txBox="1"/>
          <p:nvPr/>
        </p:nvSpPr>
        <p:spPr>
          <a:xfrm>
            <a:off x="0" y="5603991"/>
            <a:ext cx="12044515" cy="923330"/>
          </a:xfrm>
          <a:prstGeom prst="rect">
            <a:avLst/>
          </a:prstGeom>
          <a:noFill/>
        </p:spPr>
        <p:txBody>
          <a:bodyPr wrap="square" rtlCol="0">
            <a:spAutoFit/>
          </a:bodyPr>
          <a:lstStyle/>
          <a:p>
            <a:r>
              <a:rPr lang="en-GB" dirty="0">
                <a:latin typeface="Arial" panose="020B0604020202020204" pitchFamily="34" charset="0"/>
                <a:cs typeface="Arial" panose="020B0604020202020204" pitchFamily="34" charset="0"/>
              </a:rPr>
              <a:t>Treatment-seeking is most common in smaller companies (26–100 employees). Rates drop significantly in mid-large firms (500–1000), then rise again slightly in very large organizations (1000+ employees).</a:t>
            </a:r>
          </a:p>
          <a:p>
            <a:endParaRPr lang="en-GB" dirty="0"/>
          </a:p>
        </p:txBody>
      </p:sp>
    </p:spTree>
    <p:extLst>
      <p:ext uri="{BB962C8B-B14F-4D97-AF65-F5344CB8AC3E}">
        <p14:creationId xmlns:p14="http://schemas.microsoft.com/office/powerpoint/2010/main" val="16065909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 screen&#10;&#10;AI-generated content may be incorrect.">
            <a:extLst>
              <a:ext uri="{FF2B5EF4-FFF2-40B4-BE49-F238E27FC236}">
                <a16:creationId xmlns:a16="http://schemas.microsoft.com/office/drawing/2014/main" id="{14AE2904-6641-2034-C4B8-3536F7049E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807" y="209100"/>
            <a:ext cx="11898385" cy="6439799"/>
          </a:xfrm>
          <a:prstGeom prst="rect">
            <a:avLst/>
          </a:prstGeom>
        </p:spPr>
      </p:pic>
      <p:sp>
        <p:nvSpPr>
          <p:cNvPr id="4" name="TextBox 3">
            <a:extLst>
              <a:ext uri="{FF2B5EF4-FFF2-40B4-BE49-F238E27FC236}">
                <a16:creationId xmlns:a16="http://schemas.microsoft.com/office/drawing/2014/main" id="{AECB13AD-ED66-BF43-F947-88769346A90C}"/>
              </a:ext>
            </a:extLst>
          </p:cNvPr>
          <p:cNvSpPr txBox="1"/>
          <p:nvPr/>
        </p:nvSpPr>
        <p:spPr>
          <a:xfrm>
            <a:off x="1307691" y="6054022"/>
            <a:ext cx="8111614" cy="646331"/>
          </a:xfrm>
          <a:prstGeom prst="rect">
            <a:avLst/>
          </a:prstGeom>
          <a:noFill/>
        </p:spPr>
        <p:txBody>
          <a:bodyPr wrap="square" rtlCol="0">
            <a:spAutoFit/>
          </a:bodyPr>
          <a:lstStyle/>
          <a:p>
            <a:r>
              <a:rPr lang="en-GB" dirty="0">
                <a:latin typeface="Arial" panose="020B0604020202020204" pitchFamily="34" charset="0"/>
                <a:cs typeface="Arial" panose="020B0604020202020204" pitchFamily="34" charset="0"/>
              </a:rPr>
              <a:t>Employees in larger companies report more frequent interference of mental-health issues with their work.</a:t>
            </a:r>
          </a:p>
        </p:txBody>
      </p:sp>
      <p:sp>
        <p:nvSpPr>
          <p:cNvPr id="2" name="TextBox 1">
            <a:extLst>
              <a:ext uri="{FF2B5EF4-FFF2-40B4-BE49-F238E27FC236}">
                <a16:creationId xmlns:a16="http://schemas.microsoft.com/office/drawing/2014/main" id="{0EFA71EA-724B-7D4A-3B02-1DFD8103F178}"/>
              </a:ext>
            </a:extLst>
          </p:cNvPr>
          <p:cNvSpPr txBox="1"/>
          <p:nvPr/>
        </p:nvSpPr>
        <p:spPr>
          <a:xfrm>
            <a:off x="1170038" y="2623"/>
            <a:ext cx="11110451" cy="369332"/>
          </a:xfrm>
          <a:prstGeom prst="rect">
            <a:avLst/>
          </a:prstGeom>
          <a:noFill/>
        </p:spPr>
        <p:txBody>
          <a:bodyPr wrap="square" rtlCol="0">
            <a:spAutoFit/>
          </a:bodyPr>
          <a:lstStyle/>
          <a:p>
            <a:r>
              <a:rPr lang="en-GB" i="1"/>
              <a:t>How does company size relate to the frequency of work interference caused by mental-health issues?</a:t>
            </a:r>
            <a:endParaRPr lang="en-GB"/>
          </a:p>
        </p:txBody>
      </p:sp>
    </p:spTree>
    <p:extLst>
      <p:ext uri="{BB962C8B-B14F-4D97-AF65-F5344CB8AC3E}">
        <p14:creationId xmlns:p14="http://schemas.microsoft.com/office/powerpoint/2010/main" val="37785133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with different colored squares&#10;&#10;AI-generated content may be incorrect.">
            <a:extLst>
              <a:ext uri="{FF2B5EF4-FFF2-40B4-BE49-F238E27FC236}">
                <a16:creationId xmlns:a16="http://schemas.microsoft.com/office/drawing/2014/main" id="{68432DAC-D590-BB75-3F4C-ADDE2F51C6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728" y="374588"/>
            <a:ext cx="11774543" cy="5908226"/>
          </a:xfrm>
          <a:prstGeom prst="rect">
            <a:avLst/>
          </a:prstGeom>
        </p:spPr>
      </p:pic>
      <p:sp>
        <p:nvSpPr>
          <p:cNvPr id="4" name="TextBox 3">
            <a:extLst>
              <a:ext uri="{FF2B5EF4-FFF2-40B4-BE49-F238E27FC236}">
                <a16:creationId xmlns:a16="http://schemas.microsoft.com/office/drawing/2014/main" id="{42F5FAFD-3950-AB72-75FA-9F1B738548E2}"/>
              </a:ext>
            </a:extLst>
          </p:cNvPr>
          <p:cNvSpPr txBox="1"/>
          <p:nvPr/>
        </p:nvSpPr>
        <p:spPr>
          <a:xfrm>
            <a:off x="285136" y="176980"/>
            <a:ext cx="12192000" cy="923330"/>
          </a:xfrm>
          <a:prstGeom prst="rect">
            <a:avLst/>
          </a:prstGeom>
          <a:noFill/>
        </p:spPr>
        <p:txBody>
          <a:bodyPr wrap="square" rtlCol="0">
            <a:spAutoFit/>
          </a:bodyPr>
          <a:lstStyle/>
          <a:p>
            <a:r>
              <a:rPr lang="en-GB" i="1" dirty="0"/>
              <a:t>Do tech-company employees experience work interference from mental-health issues differently compared to non-tech employees?</a:t>
            </a:r>
            <a:endParaRPr lang="en-GB" dirty="0"/>
          </a:p>
          <a:p>
            <a:endParaRPr lang="en-GB" dirty="0"/>
          </a:p>
        </p:txBody>
      </p:sp>
      <p:sp>
        <p:nvSpPr>
          <p:cNvPr id="5" name="TextBox 4">
            <a:extLst>
              <a:ext uri="{FF2B5EF4-FFF2-40B4-BE49-F238E27FC236}">
                <a16:creationId xmlns:a16="http://schemas.microsoft.com/office/drawing/2014/main" id="{0C11BA66-F94C-0962-3D68-DC4439D9694F}"/>
              </a:ext>
            </a:extLst>
          </p:cNvPr>
          <p:cNvSpPr txBox="1"/>
          <p:nvPr/>
        </p:nvSpPr>
        <p:spPr>
          <a:xfrm>
            <a:off x="550606" y="5821149"/>
            <a:ext cx="9645445" cy="923330"/>
          </a:xfrm>
          <a:prstGeom prst="rect">
            <a:avLst/>
          </a:prstGeom>
          <a:noFill/>
        </p:spPr>
        <p:txBody>
          <a:bodyPr wrap="square" rtlCol="0">
            <a:spAutoFit/>
          </a:bodyPr>
          <a:lstStyle/>
          <a:p>
            <a:r>
              <a:rPr lang="en-GB" dirty="0"/>
              <a:t>Among tech-company employees, “Sometimes” is the most frequently reported level of work interference.</a:t>
            </a:r>
          </a:p>
          <a:p>
            <a:r>
              <a:rPr lang="en-GB"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7011981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1" name="Rectangle 10">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cxnSp>
        <p:nvCxnSpPr>
          <p:cNvPr id="13" name="Straight Connector 12">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5" name="Rectangle 14">
            <a:extLst>
              <a:ext uri="{FF2B5EF4-FFF2-40B4-BE49-F238E27FC236}">
                <a16:creationId xmlns:a16="http://schemas.microsoft.com/office/drawing/2014/main" id="{AE220058-3FCE-496E-ADF2-D8A6961F39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E193F809-7E50-4AAD-8E26-878207931CB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944603" y="4325112"/>
            <a:ext cx="71323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86BA9E2-BB17-E3CC-0CE9-73CD66751BFE}"/>
              </a:ext>
            </a:extLst>
          </p:cNvPr>
          <p:cNvSpPr>
            <a:spLocks noGrp="1"/>
          </p:cNvSpPr>
          <p:nvPr>
            <p:ph type="title"/>
          </p:nvPr>
        </p:nvSpPr>
        <p:spPr>
          <a:xfrm>
            <a:off x="3836504" y="758952"/>
            <a:ext cx="7319175" cy="3566160"/>
          </a:xfrm>
        </p:spPr>
        <p:txBody>
          <a:bodyPr vert="horz" lIns="91440" tIns="45720" rIns="91440" bIns="45720" rtlCol="0" anchor="b">
            <a:normAutofit/>
          </a:bodyPr>
          <a:lstStyle/>
          <a:p>
            <a:r>
              <a:rPr lang="en-US" sz="7400" dirty="0">
                <a:solidFill>
                  <a:schemeClr val="tx1">
                    <a:lumMod val="85000"/>
                    <a:lumOff val="15000"/>
                  </a:schemeClr>
                </a:solidFill>
              </a:rPr>
              <a:t>Mental-Health Outcomes &amp; Treatment Patterns</a:t>
            </a:r>
          </a:p>
        </p:txBody>
      </p:sp>
      <p:pic>
        <p:nvPicPr>
          <p:cNvPr id="6" name="Graphic 5" descr="Brain in head">
            <a:extLst>
              <a:ext uri="{FF2B5EF4-FFF2-40B4-BE49-F238E27FC236}">
                <a16:creationId xmlns:a16="http://schemas.microsoft.com/office/drawing/2014/main" id="{5A62D6A6-3D4C-63C6-BABD-FBA81DC1876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9818" y="1944907"/>
            <a:ext cx="2449486" cy="2449486"/>
          </a:xfrm>
          <a:prstGeom prst="rect">
            <a:avLst/>
          </a:prstGeom>
        </p:spPr>
      </p:pic>
      <p:sp>
        <p:nvSpPr>
          <p:cNvPr id="19" name="Rectangle 18">
            <a:extLst>
              <a:ext uri="{FF2B5EF4-FFF2-40B4-BE49-F238E27FC236}">
                <a16:creationId xmlns:a16="http://schemas.microsoft.com/office/drawing/2014/main" id="{3E9C5090-7D25-41E3-A6D3-CCAEE505E7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1" name="Rectangle 20">
            <a:extLst>
              <a:ext uri="{FF2B5EF4-FFF2-40B4-BE49-F238E27FC236}">
                <a16:creationId xmlns:a16="http://schemas.microsoft.com/office/drawing/2014/main" id="{11BF8809-0DAC-41E5-A212-ACB4A01BE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3239236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6"/>
                                        </p:tgtEl>
                                        <p:attrNameLst>
                                          <p:attrName>style.visibility</p:attrName>
                                        </p:attrNameLst>
                                      </p:cBhvr>
                                      <p:to>
                                        <p:strVal val="visible"/>
                                      </p:to>
                                    </p:set>
                                    <p:animEffect transition="in" filter="fade">
                                      <p:cBhvr>
                                        <p:cTn id="10"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 shot of a graph&#10;&#10;AI-generated content may be incorrect.">
            <a:extLst>
              <a:ext uri="{FF2B5EF4-FFF2-40B4-BE49-F238E27FC236}">
                <a16:creationId xmlns:a16="http://schemas.microsoft.com/office/drawing/2014/main" id="{A06BB6F2-3E57-7157-5572-ED103574EF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36581"/>
            <a:ext cx="12192000" cy="4584837"/>
          </a:xfrm>
          <a:prstGeom prst="rect">
            <a:avLst/>
          </a:prstGeom>
        </p:spPr>
      </p:pic>
      <p:sp>
        <p:nvSpPr>
          <p:cNvPr id="4" name="TextBox 3">
            <a:extLst>
              <a:ext uri="{FF2B5EF4-FFF2-40B4-BE49-F238E27FC236}">
                <a16:creationId xmlns:a16="http://schemas.microsoft.com/office/drawing/2014/main" id="{85EDE29A-DA9C-FA4B-8B33-5CA972B09F6A}"/>
              </a:ext>
            </a:extLst>
          </p:cNvPr>
          <p:cNvSpPr txBox="1"/>
          <p:nvPr/>
        </p:nvSpPr>
        <p:spPr>
          <a:xfrm>
            <a:off x="285135" y="157316"/>
            <a:ext cx="12457471" cy="892552"/>
          </a:xfrm>
          <a:prstGeom prst="rect">
            <a:avLst/>
          </a:prstGeom>
          <a:noFill/>
        </p:spPr>
        <p:txBody>
          <a:bodyPr wrap="square" rtlCol="0">
            <a:spAutoFit/>
          </a:bodyPr>
          <a:lstStyle/>
          <a:p>
            <a:r>
              <a:rPr lang="en-GB" sz="2400" dirty="0"/>
              <a:t>How does age relate to mental-health consequences, and does gender affect this relationship?</a:t>
            </a:r>
            <a:endParaRPr lang="en-GB" sz="2400" dirty="0">
              <a:latin typeface="Arial" panose="020B0604020202020204" pitchFamily="34" charset="0"/>
              <a:cs typeface="Arial" panose="020B0604020202020204" pitchFamily="34" charset="0"/>
            </a:endParaRPr>
          </a:p>
          <a:p>
            <a:endParaRPr lang="en-GB" sz="2800" dirty="0"/>
          </a:p>
        </p:txBody>
      </p:sp>
      <p:sp>
        <p:nvSpPr>
          <p:cNvPr id="5" name="TextBox 4">
            <a:extLst>
              <a:ext uri="{FF2B5EF4-FFF2-40B4-BE49-F238E27FC236}">
                <a16:creationId xmlns:a16="http://schemas.microsoft.com/office/drawing/2014/main" id="{51ACB2DE-050C-B2FC-BB07-25C5E68E6F7A}"/>
              </a:ext>
            </a:extLst>
          </p:cNvPr>
          <p:cNvSpPr txBox="1"/>
          <p:nvPr/>
        </p:nvSpPr>
        <p:spPr>
          <a:xfrm>
            <a:off x="2035278" y="5830529"/>
            <a:ext cx="8347587" cy="646331"/>
          </a:xfrm>
          <a:prstGeom prst="rect">
            <a:avLst/>
          </a:prstGeom>
          <a:noFill/>
        </p:spPr>
        <p:txBody>
          <a:bodyPr wrap="square" rtlCol="0">
            <a:spAutoFit/>
          </a:bodyPr>
          <a:lstStyle/>
          <a:p>
            <a:r>
              <a:rPr lang="en-GB" dirty="0"/>
              <a:t> </a:t>
            </a:r>
            <a:r>
              <a:rPr lang="en-GB" dirty="0">
                <a:latin typeface="Arial" panose="020B0604020202020204" pitchFamily="34" charset="0"/>
                <a:cs typeface="Arial" panose="020B0604020202020204" pitchFamily="34" charset="0"/>
              </a:rPr>
              <a:t>Respondents aged 25–40 are the most likely to report mental-health consequences, especially females</a:t>
            </a:r>
          </a:p>
        </p:txBody>
      </p:sp>
    </p:spTree>
    <p:extLst>
      <p:ext uri="{BB962C8B-B14F-4D97-AF65-F5344CB8AC3E}">
        <p14:creationId xmlns:p14="http://schemas.microsoft.com/office/powerpoint/2010/main" val="1090606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showing different colored squares&#10;&#10;AI-generated content may be incorrect.">
            <a:extLst>
              <a:ext uri="{FF2B5EF4-FFF2-40B4-BE49-F238E27FC236}">
                <a16:creationId xmlns:a16="http://schemas.microsoft.com/office/drawing/2014/main" id="{56944C22-6E85-A07B-23F5-A6DED4431A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87664"/>
            <a:ext cx="12192000" cy="4482672"/>
          </a:xfrm>
          <a:prstGeom prst="rect">
            <a:avLst/>
          </a:prstGeom>
        </p:spPr>
      </p:pic>
      <p:sp>
        <p:nvSpPr>
          <p:cNvPr id="4" name="TextBox 3">
            <a:extLst>
              <a:ext uri="{FF2B5EF4-FFF2-40B4-BE49-F238E27FC236}">
                <a16:creationId xmlns:a16="http://schemas.microsoft.com/office/drawing/2014/main" id="{00FD9EB0-065E-61E7-85BE-2B6744090402}"/>
              </a:ext>
            </a:extLst>
          </p:cNvPr>
          <p:cNvSpPr txBox="1"/>
          <p:nvPr/>
        </p:nvSpPr>
        <p:spPr>
          <a:xfrm>
            <a:off x="1307689" y="98323"/>
            <a:ext cx="10019071" cy="646331"/>
          </a:xfrm>
          <a:prstGeom prst="rect">
            <a:avLst/>
          </a:prstGeom>
          <a:noFill/>
        </p:spPr>
        <p:txBody>
          <a:bodyPr wrap="square" rtlCol="0">
            <a:spAutoFit/>
          </a:bodyPr>
          <a:lstStyle/>
          <a:p>
            <a:r>
              <a:rPr lang="en-GB" i="1" dirty="0"/>
              <a:t>What proportion of people in each gender group have sought mental-health treatment?</a:t>
            </a:r>
            <a:endParaRPr lang="en-GB" dirty="0"/>
          </a:p>
          <a:p>
            <a:endParaRPr lang="en-GB" dirty="0"/>
          </a:p>
        </p:txBody>
      </p:sp>
      <p:sp>
        <p:nvSpPr>
          <p:cNvPr id="2" name="TextBox 1">
            <a:extLst>
              <a:ext uri="{FF2B5EF4-FFF2-40B4-BE49-F238E27FC236}">
                <a16:creationId xmlns:a16="http://schemas.microsoft.com/office/drawing/2014/main" id="{F29EF08A-9771-80BE-B73C-3A45931179A6}"/>
              </a:ext>
            </a:extLst>
          </p:cNvPr>
          <p:cNvSpPr txBox="1"/>
          <p:nvPr/>
        </p:nvSpPr>
        <p:spPr>
          <a:xfrm>
            <a:off x="1479752" y="5467015"/>
            <a:ext cx="9674943" cy="646331"/>
          </a:xfrm>
          <a:prstGeom prst="rect">
            <a:avLst/>
          </a:prstGeom>
          <a:noFill/>
        </p:spPr>
        <p:txBody>
          <a:bodyPr wrap="square" rtlCol="0">
            <a:spAutoFit/>
          </a:bodyPr>
          <a:lstStyle/>
          <a:p>
            <a:r>
              <a:rPr lang="en-GB" dirty="0">
                <a:latin typeface="Arial" panose="020B0604020202020204" pitchFamily="34" charset="0"/>
                <a:cs typeface="Arial" panose="020B0604020202020204" pitchFamily="34" charset="0"/>
              </a:rPr>
              <a:t>Females (69%) and respondents in the ‘other’ gender group (80%) have higher treatment rates than males (45%). The ‘other’ group shows the highest likelihood of seeking treatment.</a:t>
            </a:r>
          </a:p>
        </p:txBody>
      </p:sp>
    </p:spTree>
    <p:extLst>
      <p:ext uri="{BB962C8B-B14F-4D97-AF65-F5344CB8AC3E}">
        <p14:creationId xmlns:p14="http://schemas.microsoft.com/office/powerpoint/2010/main" val="37260292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 screen&#10;&#10;AI-generated content may be incorrect.">
            <a:extLst>
              <a:ext uri="{FF2B5EF4-FFF2-40B4-BE49-F238E27FC236}">
                <a16:creationId xmlns:a16="http://schemas.microsoft.com/office/drawing/2014/main" id="{156281AA-78FF-B6F2-531A-24CEE59B6B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71634"/>
            <a:ext cx="12192000" cy="4714731"/>
          </a:xfrm>
          <a:prstGeom prst="rect">
            <a:avLst/>
          </a:prstGeom>
        </p:spPr>
      </p:pic>
      <p:sp>
        <p:nvSpPr>
          <p:cNvPr id="4" name="TextBox 3">
            <a:extLst>
              <a:ext uri="{FF2B5EF4-FFF2-40B4-BE49-F238E27FC236}">
                <a16:creationId xmlns:a16="http://schemas.microsoft.com/office/drawing/2014/main" id="{89E58899-07FC-3D8E-58C0-4A6033AAD5B7}"/>
              </a:ext>
            </a:extLst>
          </p:cNvPr>
          <p:cNvSpPr txBox="1"/>
          <p:nvPr/>
        </p:nvSpPr>
        <p:spPr>
          <a:xfrm>
            <a:off x="137651" y="255639"/>
            <a:ext cx="11316929" cy="646331"/>
          </a:xfrm>
          <a:prstGeom prst="rect">
            <a:avLst/>
          </a:prstGeom>
          <a:noFill/>
        </p:spPr>
        <p:txBody>
          <a:bodyPr wrap="square" rtlCol="0">
            <a:spAutoFit/>
          </a:bodyPr>
          <a:lstStyle/>
          <a:p>
            <a:r>
              <a:rPr lang="en-GB" i="1" dirty="0"/>
              <a:t>Does age influence how often mental-health issues interfere with work, and does treatment status change this pattern?</a:t>
            </a:r>
            <a:endParaRPr lang="en-GB" dirty="0"/>
          </a:p>
          <a:p>
            <a:endParaRPr lang="en-GB" dirty="0"/>
          </a:p>
        </p:txBody>
      </p:sp>
      <p:sp>
        <p:nvSpPr>
          <p:cNvPr id="2" name="TextBox 1">
            <a:extLst>
              <a:ext uri="{FF2B5EF4-FFF2-40B4-BE49-F238E27FC236}">
                <a16:creationId xmlns:a16="http://schemas.microsoft.com/office/drawing/2014/main" id="{1740C937-AEF1-5ECE-E3DE-432C1A48FB7B}"/>
              </a:ext>
            </a:extLst>
          </p:cNvPr>
          <p:cNvSpPr txBox="1"/>
          <p:nvPr/>
        </p:nvSpPr>
        <p:spPr>
          <a:xfrm>
            <a:off x="639097" y="5604387"/>
            <a:ext cx="9065342" cy="923330"/>
          </a:xfrm>
          <a:prstGeom prst="rect">
            <a:avLst/>
          </a:prstGeom>
          <a:noFill/>
        </p:spPr>
        <p:txBody>
          <a:bodyPr wrap="square" rtlCol="0">
            <a:spAutoFit/>
          </a:bodyPr>
          <a:lstStyle/>
          <a:p>
            <a:r>
              <a:rPr lang="en-GB" dirty="0">
                <a:latin typeface="Arial" panose="020B0604020202020204" pitchFamily="34" charset="0"/>
                <a:cs typeface="Arial" panose="020B0604020202020204" pitchFamily="34" charset="0"/>
              </a:rPr>
              <a:t>Younger employees and those already receiving treatment report higher levels of work interference from mental-health issues.</a:t>
            </a:r>
          </a:p>
          <a:p>
            <a:endParaRPr lang="en-GB" dirty="0"/>
          </a:p>
        </p:txBody>
      </p:sp>
    </p:spTree>
    <p:extLst>
      <p:ext uri="{BB962C8B-B14F-4D97-AF65-F5344CB8AC3E}">
        <p14:creationId xmlns:p14="http://schemas.microsoft.com/office/powerpoint/2010/main" val="6511402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squares with black text&#10;&#10;AI-generated content may be incorrect.">
            <a:extLst>
              <a:ext uri="{FF2B5EF4-FFF2-40B4-BE49-F238E27FC236}">
                <a16:creationId xmlns:a16="http://schemas.microsoft.com/office/drawing/2014/main" id="{F0A85EEB-E9BB-9622-BB48-72C3EA0D0B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597" y="337706"/>
            <a:ext cx="11326806" cy="5570725"/>
          </a:xfrm>
          <a:prstGeom prst="rect">
            <a:avLst/>
          </a:prstGeom>
        </p:spPr>
      </p:pic>
      <p:sp>
        <p:nvSpPr>
          <p:cNvPr id="4" name="TextBox 3">
            <a:extLst>
              <a:ext uri="{FF2B5EF4-FFF2-40B4-BE49-F238E27FC236}">
                <a16:creationId xmlns:a16="http://schemas.microsoft.com/office/drawing/2014/main" id="{4E49B49E-D0A1-50B0-81A2-0EAA7932D186}"/>
              </a:ext>
            </a:extLst>
          </p:cNvPr>
          <p:cNvSpPr txBox="1"/>
          <p:nvPr/>
        </p:nvSpPr>
        <p:spPr>
          <a:xfrm>
            <a:off x="1612490" y="0"/>
            <a:ext cx="10471355" cy="369332"/>
          </a:xfrm>
          <a:prstGeom prst="rect">
            <a:avLst/>
          </a:prstGeom>
          <a:noFill/>
        </p:spPr>
        <p:txBody>
          <a:bodyPr wrap="square" rtlCol="0">
            <a:spAutoFit/>
          </a:bodyPr>
          <a:lstStyle/>
          <a:p>
            <a:r>
              <a:rPr lang="en-GB" i="1" dirty="0"/>
              <a:t>Does offering mental-health benefits increase employees’ willingness to seek professional help?</a:t>
            </a:r>
            <a:endParaRPr lang="en-GB" dirty="0"/>
          </a:p>
        </p:txBody>
      </p:sp>
      <p:sp>
        <p:nvSpPr>
          <p:cNvPr id="5" name="TextBox 4">
            <a:extLst>
              <a:ext uri="{FF2B5EF4-FFF2-40B4-BE49-F238E27FC236}">
                <a16:creationId xmlns:a16="http://schemas.microsoft.com/office/drawing/2014/main" id="{E4C15C02-1C66-2175-CFB6-A482F604C644}"/>
              </a:ext>
            </a:extLst>
          </p:cNvPr>
          <p:cNvSpPr txBox="1"/>
          <p:nvPr/>
        </p:nvSpPr>
        <p:spPr>
          <a:xfrm>
            <a:off x="1484453" y="5684662"/>
            <a:ext cx="8622891" cy="646331"/>
          </a:xfrm>
          <a:prstGeom prst="rect">
            <a:avLst/>
          </a:prstGeom>
          <a:noFill/>
        </p:spPr>
        <p:txBody>
          <a:bodyPr wrap="square" rtlCol="0">
            <a:spAutoFit/>
          </a:bodyPr>
          <a:lstStyle/>
          <a:p>
            <a:r>
              <a:rPr lang="en-GB" dirty="0">
                <a:latin typeface="Arial" panose="020B0604020202020204" pitchFamily="34" charset="0"/>
                <a:cs typeface="Arial" panose="020B0604020202020204" pitchFamily="34" charset="0"/>
              </a:rPr>
              <a:t>Employees with mental-health benefits are far more willing to seek professional help than those without benefits.</a:t>
            </a:r>
          </a:p>
        </p:txBody>
      </p:sp>
    </p:spTree>
    <p:extLst>
      <p:ext uri="{BB962C8B-B14F-4D97-AF65-F5344CB8AC3E}">
        <p14:creationId xmlns:p14="http://schemas.microsoft.com/office/powerpoint/2010/main" val="4257701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with red and blue dots&#10;&#10;AI-generated content may be incorrect.">
            <a:extLst>
              <a:ext uri="{FF2B5EF4-FFF2-40B4-BE49-F238E27FC236}">
                <a16:creationId xmlns:a16="http://schemas.microsoft.com/office/drawing/2014/main" id="{620D35EC-1C56-96B0-AB8D-0E7395F9EA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73563"/>
            <a:ext cx="12192000" cy="4710873"/>
          </a:xfrm>
          <a:prstGeom prst="rect">
            <a:avLst/>
          </a:prstGeom>
        </p:spPr>
      </p:pic>
      <p:sp>
        <p:nvSpPr>
          <p:cNvPr id="5" name="TextBox 4">
            <a:extLst>
              <a:ext uri="{FF2B5EF4-FFF2-40B4-BE49-F238E27FC236}">
                <a16:creationId xmlns:a16="http://schemas.microsoft.com/office/drawing/2014/main" id="{8B06AFB7-523E-3AFE-E207-569E1CE3BCF8}"/>
              </a:ext>
            </a:extLst>
          </p:cNvPr>
          <p:cNvSpPr txBox="1"/>
          <p:nvPr/>
        </p:nvSpPr>
        <p:spPr>
          <a:xfrm>
            <a:off x="727587" y="383458"/>
            <a:ext cx="9763432" cy="646331"/>
          </a:xfrm>
          <a:prstGeom prst="rect">
            <a:avLst/>
          </a:prstGeom>
          <a:noFill/>
        </p:spPr>
        <p:txBody>
          <a:bodyPr wrap="square" rtlCol="0">
            <a:spAutoFit/>
          </a:bodyPr>
          <a:lstStyle/>
          <a:p>
            <a:r>
              <a:rPr lang="en-GB" dirty="0"/>
              <a:t>Is there a relationship between employee age, company size, and the likelihood of seeking mental-health treatment?</a:t>
            </a:r>
          </a:p>
        </p:txBody>
      </p:sp>
      <p:sp>
        <p:nvSpPr>
          <p:cNvPr id="6" name="TextBox 5">
            <a:extLst>
              <a:ext uri="{FF2B5EF4-FFF2-40B4-BE49-F238E27FC236}">
                <a16:creationId xmlns:a16="http://schemas.microsoft.com/office/drawing/2014/main" id="{AAF6B15B-DB93-AB77-3E4E-C112F37558F8}"/>
              </a:ext>
            </a:extLst>
          </p:cNvPr>
          <p:cNvSpPr txBox="1"/>
          <p:nvPr/>
        </p:nvSpPr>
        <p:spPr>
          <a:xfrm>
            <a:off x="1317522" y="5643716"/>
            <a:ext cx="9556955" cy="923330"/>
          </a:xfrm>
          <a:prstGeom prst="rect">
            <a:avLst/>
          </a:prstGeom>
          <a:noFill/>
        </p:spPr>
        <p:txBody>
          <a:bodyPr wrap="square" rtlCol="0">
            <a:spAutoFit/>
          </a:bodyPr>
          <a:lstStyle/>
          <a:p>
            <a:r>
              <a:rPr lang="en-GB" dirty="0">
                <a:latin typeface="Arial" panose="020B0604020202020204" pitchFamily="34" charset="0"/>
                <a:cs typeface="Arial" panose="020B0604020202020204" pitchFamily="34" charset="0"/>
              </a:rPr>
              <a:t>There is no strong relationship between age or company size and seeking treatment, suggesting other factors drive the decision.</a:t>
            </a:r>
          </a:p>
          <a:p>
            <a:endParaRPr lang="en-GB" dirty="0"/>
          </a:p>
        </p:txBody>
      </p:sp>
    </p:spTree>
    <p:extLst>
      <p:ext uri="{BB962C8B-B14F-4D97-AF65-F5344CB8AC3E}">
        <p14:creationId xmlns:p14="http://schemas.microsoft.com/office/powerpoint/2010/main" val="41709908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5C8D2C1-DA83-420D-9635-D52CE066B5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1" name="Rectangle 10">
            <a:extLst>
              <a:ext uri="{FF2B5EF4-FFF2-40B4-BE49-F238E27FC236}">
                <a16:creationId xmlns:a16="http://schemas.microsoft.com/office/drawing/2014/main" id="{434F74C9-6A0B-409E-AD1C-45B58BE91B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cxnSp>
        <p:nvCxnSpPr>
          <p:cNvPr id="13" name="Straight Connector 12">
            <a:extLst>
              <a:ext uri="{FF2B5EF4-FFF2-40B4-BE49-F238E27FC236}">
                <a16:creationId xmlns:a16="http://schemas.microsoft.com/office/drawing/2014/main" id="{F5486A9D-1265-4B57-91E6-68E666B978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5" name="Picture 4" descr="Close up of pushpins on roadmap route">
            <a:extLst>
              <a:ext uri="{FF2B5EF4-FFF2-40B4-BE49-F238E27FC236}">
                <a16:creationId xmlns:a16="http://schemas.microsoft.com/office/drawing/2014/main" id="{07570733-80CC-B0C1-8C50-95494FFBCD84}"/>
              </a:ext>
            </a:extLst>
          </p:cNvPr>
          <p:cNvPicPr>
            <a:picLocks noChangeAspect="1"/>
          </p:cNvPicPr>
          <p:nvPr/>
        </p:nvPicPr>
        <p:blipFill>
          <a:blip r:embed="rId2"/>
          <a:srcRect t="4063" b="35315"/>
          <a:stretch>
            <a:fillRect/>
          </a:stretch>
        </p:blipFill>
        <p:spPr>
          <a:xfrm>
            <a:off x="-32" y="10"/>
            <a:ext cx="12192031" cy="4915066"/>
          </a:xfrm>
          <a:prstGeom prst="rect">
            <a:avLst/>
          </a:prstGeom>
        </p:spPr>
      </p:pic>
      <p:sp>
        <p:nvSpPr>
          <p:cNvPr id="15" name="Rectangle 14">
            <a:extLst>
              <a:ext uri="{FF2B5EF4-FFF2-40B4-BE49-F238E27FC236}">
                <a16:creationId xmlns:a16="http://schemas.microsoft.com/office/drawing/2014/main" id="{B76D919A-FC3E-4B4E-BAF0-ED6CFB8DC4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DA7C1923-0959-991E-DFCD-9DD912A4BD8A}"/>
              </a:ext>
            </a:extLst>
          </p:cNvPr>
          <p:cNvSpPr>
            <a:spLocks noGrp="1"/>
          </p:cNvSpPr>
          <p:nvPr>
            <p:ph type="title"/>
          </p:nvPr>
        </p:nvSpPr>
        <p:spPr>
          <a:xfrm>
            <a:off x="1065197" y="5120640"/>
            <a:ext cx="10058400" cy="822960"/>
          </a:xfrm>
        </p:spPr>
        <p:txBody>
          <a:bodyPr vert="horz" lIns="91440" tIns="45720" rIns="91440" bIns="45720" rtlCol="0" anchor="b">
            <a:normAutofit/>
          </a:bodyPr>
          <a:lstStyle/>
          <a:p>
            <a:r>
              <a:rPr lang="en-US" sz="3600" dirty="0">
                <a:solidFill>
                  <a:srgbClr val="FFFFFF"/>
                </a:solidFill>
              </a:rPr>
              <a:t>Geographical Insights</a:t>
            </a:r>
          </a:p>
        </p:txBody>
      </p:sp>
      <p:sp>
        <p:nvSpPr>
          <p:cNvPr id="3" name="Text Placeholder 2">
            <a:extLst>
              <a:ext uri="{FF2B5EF4-FFF2-40B4-BE49-F238E27FC236}">
                <a16:creationId xmlns:a16="http://schemas.microsoft.com/office/drawing/2014/main" id="{91F476DC-9ED6-B505-12B5-26F80FD320D7}"/>
              </a:ext>
            </a:extLst>
          </p:cNvPr>
          <p:cNvSpPr>
            <a:spLocks noGrp="1"/>
          </p:cNvSpPr>
          <p:nvPr>
            <p:ph type="body" idx="1"/>
          </p:nvPr>
        </p:nvSpPr>
        <p:spPr>
          <a:xfrm>
            <a:off x="1065212" y="5943600"/>
            <a:ext cx="10058400" cy="543513"/>
          </a:xfrm>
        </p:spPr>
        <p:txBody>
          <a:bodyPr vert="horz" lIns="91440" tIns="45720" rIns="91440" bIns="45720" rtlCol="0">
            <a:normAutofit/>
          </a:bodyPr>
          <a:lstStyle/>
          <a:p>
            <a:endParaRPr lang="en-US" sz="1500">
              <a:solidFill>
                <a:srgbClr val="FFFFFF"/>
              </a:solidFill>
            </a:endParaRPr>
          </a:p>
        </p:txBody>
      </p:sp>
      <p:sp>
        <p:nvSpPr>
          <p:cNvPr id="17" name="Rectangle 16">
            <a:extLst>
              <a:ext uri="{FF2B5EF4-FFF2-40B4-BE49-F238E27FC236}">
                <a16:creationId xmlns:a16="http://schemas.microsoft.com/office/drawing/2014/main" id="{8F66ACBD-1C82-4782-AA7C-05504DD7DE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10153658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with numbers and a bar&#10;&#10;AI-generated content may be incorrect.">
            <a:extLst>
              <a:ext uri="{FF2B5EF4-FFF2-40B4-BE49-F238E27FC236}">
                <a16:creationId xmlns:a16="http://schemas.microsoft.com/office/drawing/2014/main" id="{EEB0569F-E2C9-338F-439C-81653E4854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268" y="271612"/>
            <a:ext cx="11498280" cy="5942375"/>
          </a:xfrm>
          <a:prstGeom prst="rect">
            <a:avLst/>
          </a:prstGeom>
        </p:spPr>
      </p:pic>
      <p:sp>
        <p:nvSpPr>
          <p:cNvPr id="6" name="TextBox 5">
            <a:extLst>
              <a:ext uri="{FF2B5EF4-FFF2-40B4-BE49-F238E27FC236}">
                <a16:creationId xmlns:a16="http://schemas.microsoft.com/office/drawing/2014/main" id="{2BCE5234-F07F-7766-872B-04C68E16C846}"/>
              </a:ext>
            </a:extLst>
          </p:cNvPr>
          <p:cNvSpPr txBox="1"/>
          <p:nvPr/>
        </p:nvSpPr>
        <p:spPr>
          <a:xfrm>
            <a:off x="442452" y="5940057"/>
            <a:ext cx="11307096" cy="369332"/>
          </a:xfrm>
          <a:prstGeom prst="rect">
            <a:avLst/>
          </a:prstGeom>
          <a:noFill/>
        </p:spPr>
        <p:txBody>
          <a:bodyPr wrap="square" rtlCol="0">
            <a:spAutoFit/>
          </a:bodyPr>
          <a:lstStyle/>
          <a:p>
            <a:r>
              <a:rPr lang="en-GB" dirty="0">
                <a:latin typeface="Arial" panose="020B0604020202020204" pitchFamily="34" charset="0"/>
                <a:cs typeface="Arial" panose="020B0604020202020204" pitchFamily="34" charset="0"/>
              </a:rPr>
              <a:t>The USA, UK, and Canada have the highest numbers of respondents reporting mental-health consequences..</a:t>
            </a:r>
          </a:p>
        </p:txBody>
      </p:sp>
      <p:sp>
        <p:nvSpPr>
          <p:cNvPr id="2" name="TextBox 1">
            <a:extLst>
              <a:ext uri="{FF2B5EF4-FFF2-40B4-BE49-F238E27FC236}">
                <a16:creationId xmlns:a16="http://schemas.microsoft.com/office/drawing/2014/main" id="{0D0F2C89-C60E-0678-7470-11CFC4B465C2}"/>
              </a:ext>
            </a:extLst>
          </p:cNvPr>
          <p:cNvSpPr txBox="1"/>
          <p:nvPr/>
        </p:nvSpPr>
        <p:spPr>
          <a:xfrm>
            <a:off x="1209368" y="-51554"/>
            <a:ext cx="10864645" cy="646331"/>
          </a:xfrm>
          <a:prstGeom prst="rect">
            <a:avLst/>
          </a:prstGeom>
          <a:noFill/>
        </p:spPr>
        <p:txBody>
          <a:bodyPr wrap="square" rtlCol="0">
            <a:spAutoFit/>
          </a:bodyPr>
          <a:lstStyle/>
          <a:p>
            <a:r>
              <a:rPr lang="en-GB" i="1" dirty="0"/>
              <a:t>Which countries have the highest numbers of respondents reporting mental-health consequences?</a:t>
            </a:r>
            <a:endParaRPr lang="en-GB" dirty="0"/>
          </a:p>
          <a:p>
            <a:endParaRPr lang="en-GB" dirty="0"/>
          </a:p>
        </p:txBody>
      </p:sp>
    </p:spTree>
    <p:extLst>
      <p:ext uri="{BB962C8B-B14F-4D97-AF65-F5344CB8AC3E}">
        <p14:creationId xmlns:p14="http://schemas.microsoft.com/office/powerpoint/2010/main" val="20757498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of blue bars&#10;&#10;AI-generated content may be incorrect.">
            <a:extLst>
              <a:ext uri="{FF2B5EF4-FFF2-40B4-BE49-F238E27FC236}">
                <a16:creationId xmlns:a16="http://schemas.microsoft.com/office/drawing/2014/main" id="{9C4DE35B-6A65-5955-EED4-D26A7626F0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658" y="547380"/>
            <a:ext cx="12113342" cy="5804887"/>
          </a:xfrm>
          <a:prstGeom prst="rect">
            <a:avLst/>
          </a:prstGeom>
        </p:spPr>
      </p:pic>
      <p:sp>
        <p:nvSpPr>
          <p:cNvPr id="4" name="TextBox 3">
            <a:extLst>
              <a:ext uri="{FF2B5EF4-FFF2-40B4-BE49-F238E27FC236}">
                <a16:creationId xmlns:a16="http://schemas.microsoft.com/office/drawing/2014/main" id="{BABDEA52-B057-2FD1-71E8-F6E40032ACF4}"/>
              </a:ext>
            </a:extLst>
          </p:cNvPr>
          <p:cNvSpPr txBox="1"/>
          <p:nvPr/>
        </p:nvSpPr>
        <p:spPr>
          <a:xfrm>
            <a:off x="599768" y="157316"/>
            <a:ext cx="11769213" cy="646331"/>
          </a:xfrm>
          <a:prstGeom prst="rect">
            <a:avLst/>
          </a:prstGeom>
          <a:noFill/>
        </p:spPr>
        <p:txBody>
          <a:bodyPr wrap="square" rtlCol="0">
            <a:spAutoFit/>
          </a:bodyPr>
          <a:lstStyle/>
          <a:p>
            <a:r>
              <a:rPr lang="en-GB" i="1" dirty="0"/>
              <a:t>In which countries do respondents most strongly agree that mental health is as important as physical health?</a:t>
            </a:r>
            <a:r>
              <a:rPr lang="en-GB" dirty="0"/>
              <a:t>.</a:t>
            </a:r>
          </a:p>
          <a:p>
            <a:endParaRPr lang="en-GB" dirty="0"/>
          </a:p>
        </p:txBody>
      </p:sp>
      <p:sp>
        <p:nvSpPr>
          <p:cNvPr id="2" name="TextBox 1">
            <a:extLst>
              <a:ext uri="{FF2B5EF4-FFF2-40B4-BE49-F238E27FC236}">
                <a16:creationId xmlns:a16="http://schemas.microsoft.com/office/drawing/2014/main" id="{B99431A1-2003-D137-9300-ECE678DE7FBF}"/>
              </a:ext>
            </a:extLst>
          </p:cNvPr>
          <p:cNvSpPr txBox="1"/>
          <p:nvPr/>
        </p:nvSpPr>
        <p:spPr>
          <a:xfrm>
            <a:off x="245806" y="5834651"/>
            <a:ext cx="12477135" cy="646331"/>
          </a:xfrm>
          <a:prstGeom prst="rect">
            <a:avLst/>
          </a:prstGeom>
          <a:noFill/>
        </p:spPr>
        <p:txBody>
          <a:bodyPr wrap="square" rtlCol="0">
            <a:spAutoFit/>
          </a:bodyPr>
          <a:lstStyle/>
          <a:p>
            <a:r>
              <a:rPr lang="en-GB" dirty="0">
                <a:latin typeface="Arial" panose="020B0604020202020204" pitchFamily="34" charset="0"/>
                <a:cs typeface="Arial" panose="020B0604020202020204" pitchFamily="34" charset="0"/>
              </a:rPr>
              <a:t>Austria, Denmark, Thailand, and Colombia all show 100% </a:t>
            </a:r>
            <a:r>
              <a:rPr lang="en-GB" dirty="0" err="1">
                <a:latin typeface="Arial" panose="020B0604020202020204" pitchFamily="34" charset="0"/>
                <a:cs typeface="Arial" panose="020B0604020202020204" pitchFamily="34" charset="0"/>
              </a:rPr>
              <a:t>agreement.The</a:t>
            </a:r>
            <a:r>
              <a:rPr lang="en-GB" dirty="0">
                <a:latin typeface="Arial" panose="020B0604020202020204" pitchFamily="34" charset="0"/>
                <a:cs typeface="Arial" panose="020B0604020202020204" pitchFamily="34" charset="0"/>
              </a:rPr>
              <a:t> USA is moderately  at 51.6%, while the UK has one of the lowest levels at 48.6%.</a:t>
            </a:r>
          </a:p>
        </p:txBody>
      </p:sp>
    </p:spTree>
    <p:extLst>
      <p:ext uri="{BB962C8B-B14F-4D97-AF65-F5344CB8AC3E}">
        <p14:creationId xmlns:p14="http://schemas.microsoft.com/office/powerpoint/2010/main" val="33514746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CF5173F5-BC2A-DF0A-8B5B-EC32C4A621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40667"/>
            <a:ext cx="12192000" cy="4576666"/>
          </a:xfrm>
          <a:prstGeom prst="rect">
            <a:avLst/>
          </a:prstGeom>
        </p:spPr>
      </p:pic>
      <p:sp>
        <p:nvSpPr>
          <p:cNvPr id="4" name="TextBox 3">
            <a:extLst>
              <a:ext uri="{FF2B5EF4-FFF2-40B4-BE49-F238E27FC236}">
                <a16:creationId xmlns:a16="http://schemas.microsoft.com/office/drawing/2014/main" id="{85F8D8D6-85FA-7107-3690-1ACBE1C3D072}"/>
              </a:ext>
            </a:extLst>
          </p:cNvPr>
          <p:cNvSpPr txBox="1"/>
          <p:nvPr/>
        </p:nvSpPr>
        <p:spPr>
          <a:xfrm>
            <a:off x="766916" y="290954"/>
            <a:ext cx="8780207" cy="646331"/>
          </a:xfrm>
          <a:prstGeom prst="rect">
            <a:avLst/>
          </a:prstGeom>
          <a:noFill/>
        </p:spPr>
        <p:txBody>
          <a:bodyPr wrap="square" rtlCol="0">
            <a:spAutoFit/>
          </a:bodyPr>
          <a:lstStyle/>
          <a:p>
            <a:r>
              <a:rPr lang="en-GB" i="1" dirty="0"/>
              <a:t>How does the distribution of mental-health treatment vary across countries and company sizes?</a:t>
            </a:r>
            <a:endParaRPr lang="en-GB" dirty="0"/>
          </a:p>
        </p:txBody>
      </p:sp>
      <p:sp>
        <p:nvSpPr>
          <p:cNvPr id="6" name="TextBox 5">
            <a:extLst>
              <a:ext uri="{FF2B5EF4-FFF2-40B4-BE49-F238E27FC236}">
                <a16:creationId xmlns:a16="http://schemas.microsoft.com/office/drawing/2014/main" id="{55BF399D-0BFB-5B78-BF0D-114BD95C876A}"/>
              </a:ext>
            </a:extLst>
          </p:cNvPr>
          <p:cNvSpPr txBox="1"/>
          <p:nvPr/>
        </p:nvSpPr>
        <p:spPr>
          <a:xfrm>
            <a:off x="1258529" y="5643716"/>
            <a:ext cx="10127226" cy="369332"/>
          </a:xfrm>
          <a:prstGeom prst="rect">
            <a:avLst/>
          </a:prstGeom>
          <a:noFill/>
        </p:spPr>
        <p:txBody>
          <a:bodyPr wrap="square" rtlCol="0">
            <a:spAutoFit/>
          </a:bodyPr>
          <a:lstStyle/>
          <a:p>
            <a:r>
              <a:rPr lang="en-GB" dirty="0"/>
              <a:t>Treatment distribution varies across both countries and company sizes, with no uniform pattern</a:t>
            </a:r>
          </a:p>
        </p:txBody>
      </p:sp>
    </p:spTree>
    <p:extLst>
      <p:ext uri="{BB962C8B-B14F-4D97-AF65-F5344CB8AC3E}">
        <p14:creationId xmlns:p14="http://schemas.microsoft.com/office/powerpoint/2010/main" val="33242451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erial view of a highway near the ocean">
            <a:extLst>
              <a:ext uri="{FF2B5EF4-FFF2-40B4-BE49-F238E27FC236}">
                <a16:creationId xmlns:a16="http://schemas.microsoft.com/office/drawing/2014/main" id="{FEE198E8-3DE7-DF6E-144E-04DEA8488D1F}"/>
              </a:ext>
            </a:extLst>
          </p:cNvPr>
          <p:cNvPicPr>
            <a:picLocks noChangeAspect="1"/>
          </p:cNvPicPr>
          <p:nvPr/>
        </p:nvPicPr>
        <p:blipFill>
          <a:blip r:embed="rId2">
            <a:duotone>
              <a:schemeClr val="bg2">
                <a:shade val="45000"/>
                <a:satMod val="135000"/>
              </a:schemeClr>
              <a:prstClr val="white"/>
            </a:duotone>
            <a:alphaModFix amt="35000"/>
          </a:blip>
          <a:srcRect t="11833" b="13167"/>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2DC3BF81-C013-561C-1D63-C15292074F5C}"/>
              </a:ext>
            </a:extLst>
          </p:cNvPr>
          <p:cNvSpPr>
            <a:spLocks noGrp="1"/>
          </p:cNvSpPr>
          <p:nvPr>
            <p:ph type="ctrTitle"/>
          </p:nvPr>
        </p:nvSpPr>
        <p:spPr>
          <a:xfrm>
            <a:off x="1097280" y="758952"/>
            <a:ext cx="10058400" cy="3566160"/>
          </a:xfrm>
        </p:spPr>
        <p:txBody>
          <a:bodyPr>
            <a:normAutofit/>
          </a:bodyPr>
          <a:lstStyle/>
          <a:p>
            <a:r>
              <a:rPr lang="en-GB" dirty="0"/>
              <a:t>Thank you For Your Time</a:t>
            </a:r>
          </a:p>
        </p:txBody>
      </p:sp>
      <p:sp>
        <p:nvSpPr>
          <p:cNvPr id="3" name="Subtitle 2">
            <a:extLst>
              <a:ext uri="{FF2B5EF4-FFF2-40B4-BE49-F238E27FC236}">
                <a16:creationId xmlns:a16="http://schemas.microsoft.com/office/drawing/2014/main" id="{36A13A7C-B237-B2B7-AA04-C197D519CEDF}"/>
              </a:ext>
            </a:extLst>
          </p:cNvPr>
          <p:cNvSpPr>
            <a:spLocks noGrp="1"/>
          </p:cNvSpPr>
          <p:nvPr>
            <p:ph type="subTitle" idx="1"/>
          </p:nvPr>
        </p:nvSpPr>
        <p:spPr>
          <a:xfrm>
            <a:off x="1100051" y="4455620"/>
            <a:ext cx="10058400" cy="1143000"/>
          </a:xfrm>
        </p:spPr>
        <p:txBody>
          <a:bodyPr>
            <a:normAutofit/>
          </a:bodyPr>
          <a:lstStyle/>
          <a:p>
            <a:endParaRPr lang="en-GB">
              <a:solidFill>
                <a:schemeClr val="tx1">
                  <a:lumMod val="85000"/>
                  <a:lumOff val="15000"/>
                </a:schemeClr>
              </a:solidFill>
            </a:endParaRPr>
          </a:p>
        </p:txBody>
      </p:sp>
      <p:cxnSp>
        <p:nvCxnSpPr>
          <p:cNvPr id="9" name="Straight Connector 8">
            <a:extLst>
              <a:ext uri="{FF2B5EF4-FFF2-40B4-BE49-F238E27FC236}">
                <a16:creationId xmlns:a16="http://schemas.microsoft.com/office/drawing/2014/main" id="{77AB95BF-57D0-4E49-9EF2-408B47C8D4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1C520CBD-F82E-44E4-BDA5-128716AD79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3" name="Rectangle 12">
            <a:extLst>
              <a:ext uri="{FF2B5EF4-FFF2-40B4-BE49-F238E27FC236}">
                <a16:creationId xmlns:a16="http://schemas.microsoft.com/office/drawing/2014/main" id="{4618AE32-A526-42FC-A854-732740BD3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1781816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12954</TotalTime>
  <Words>1208</Words>
  <Application>Microsoft Office PowerPoint</Application>
  <PresentationFormat>Widescreen</PresentationFormat>
  <Paragraphs>94</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Aptos</vt:lpstr>
      <vt:lpstr>Arial</vt:lpstr>
      <vt:lpstr>Calibri</vt:lpstr>
      <vt:lpstr>Calibri Light</vt:lpstr>
      <vt:lpstr>Retrospect</vt:lpstr>
      <vt:lpstr>Mid-Project Analysis</vt:lpstr>
      <vt:lpstr>Agenda</vt:lpstr>
      <vt:lpstr>Overview</vt:lpstr>
      <vt:lpstr>Customer Demographics</vt:lpstr>
      <vt:lpstr>What is the overall gender distribution of survey respondents?</vt:lpstr>
      <vt:lpstr>PowerPoint Presentation</vt:lpstr>
      <vt:lpstr>PowerPoint Presentation</vt:lpstr>
      <vt:lpstr>PowerPoint Presentation</vt:lpstr>
      <vt:lpstr>PowerPoint Presentation</vt:lpstr>
      <vt:lpstr>Workplace &amp; Behavioral Patterns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Mental-Health Outcomes &amp; Treatment Patterns</vt:lpstr>
      <vt:lpstr>PowerPoint Presentation</vt:lpstr>
      <vt:lpstr>PowerPoint Presentation</vt:lpstr>
      <vt:lpstr>PowerPoint Presentation</vt:lpstr>
      <vt:lpstr>PowerPoint Presentation</vt:lpstr>
      <vt:lpstr>PowerPoint Presentation</vt:lpstr>
      <vt:lpstr>Geographical Insights</vt:lpstr>
      <vt:lpstr>PowerPoint Presentation</vt:lpstr>
      <vt:lpstr>PowerPoint Presentation</vt:lpstr>
      <vt:lpstr>PowerPoint Presentation</vt:lpstr>
      <vt:lpstr>Thank you For Your 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Karim Deheya</dc:creator>
  <cp:lastModifiedBy>Karim Deheya</cp:lastModifiedBy>
  <cp:revision>9</cp:revision>
  <dcterms:created xsi:type="dcterms:W3CDTF">2025-11-13T22:24:38Z</dcterms:created>
  <dcterms:modified xsi:type="dcterms:W3CDTF">2025-11-27T13:44:51Z</dcterms:modified>
</cp:coreProperties>
</file>